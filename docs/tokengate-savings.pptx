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ummary" id="{25d4aa05-ea05-398b-a724-7f0e100409db}">
          <p14:sldIdLst>
            <p14:sldId id="256"/>
            <p14:sldId id="257"/>
            <p14:sldId id="258"/>
          </p14:sldIdLst>
        </p14:section>
        <p14:section name="Results" id="{67c6afcd-c161-e1e8-e441-6a11fcaa221b}">
          <p14:sldIdLst>
            <p14:sldId id="259"/>
            <p14:sldId id="260"/>
            <p14:sldId id="261"/>
          </p14:sldIdLst>
        </p14:section>
        <p14:section name="Enterprise impact" id="{61b4868d-69d4-9769-58b7-9e182a8bec07}">
          <p14:sldIdLst>
            <p14:sldId id="262"/>
          </p14:sldIdLst>
        </p14:section>
        <p14:section name="Caveats" id="{e33538ab-e7b7-9444-157c-4ea2e764af14}">
          <p14:sldIdLst>
            <p14:sldId id="263"/>
            <p14:sldId id="264"/>
          </p14:sldIdLst>
        </p14:section>
        <p14:section name="Next steps" id="{c4929e0d-f236-a7b2-11ec-ea375d4230f4}">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32B"/>
                </a:solidFill>
                <a:latin typeface="+mn-lt"/>
              </a:defRPr>
            </a:pPr>
            <a:r>
              <a:rPr sz="1400" b="0" i="0" u="none" strike="noStrike">
                <a:solidFill>
                  <a:srgbClr val="14232B"/>
                </a:solidFill>
                <a:latin typeface="+mn-lt"/>
              </a:rPr>
              <a:t>Tokens sent without compression</a:t>
            </a:r>
          </a:p>
        </c:rich>
      </c:tx>
      <c:layout/>
      <c:overlay val="0"/>
    </c:title>
    <c:autoTitleDeleted val="0"/>
    <c:plotArea>
      <c:layout/>
      <c:doughnutChart>
        <c:varyColors val="1"/>
        <c:ser>
          <c:idx val="0"/>
          <c:order val="0"/>
          <c:tx>
            <c:strRef>
              <c:f>Sheet1!$B$1</c:f>
              <c:strCache>
                <c:ptCount val="1"/>
                <c:pt idx="0">
                  <c:v>Tokens</c:v>
                </c:pt>
              </c:strCache>
            </c:strRef>
          </c:tx>
          <c:spPr>
            <a:solidFill>
              <a:schemeClr val="accent1"/>
            </a:solidFill>
            <a:ln w="9525" cap="flat">
              <a:solidFill>
                <a:srgbClr val="F9F9F9"/>
              </a:solidFill>
              <a:prstDash val="solid"/>
              <a:round/>
            </a:ln>
            <a:effectLst/>
          </c:spPr>
          <c:dPt>
            <c:idx val="0"/>
            <c:bubble3D val="0"/>
            <c:spPr>
              <a:solidFill>
                <a:srgbClr val="D9532B"/>
              </a:solidFill>
              <a:effectLst/>
            </c:spPr>
          </c:dPt>
          <c:dPt>
            <c:idx val="1"/>
            <c:bubble3D val="0"/>
            <c:spPr>
              <a:solidFill>
                <a:srgbClr val="5F7380"/>
              </a:solidFill>
              <a:effectLst/>
            </c:spPr>
          </c:dPt>
          <c:dLbls>
            <c:dLbl>
              <c:idx val="0"/>
              <c:numFmt formatCode="0%" sourceLinked="0"/>
              <c:spPr/>
              <c:txPr>
                <a:bodyPr/>
                <a:lstStyle/>
                <a:p>
                  <a:pPr>
                    <a:defRPr sz="1400" b="1" i="0" u="none" strike="noStrike">
                      <a:solidFill>
                        <a:srgbClr val="FFFFFF"/>
                      </a:solidFill>
                      <a:latin typeface="+mn-lt"/>
                    </a:defRPr>
                  </a:pPr>
                </a:p>
              </c:txPr>
              <c:showLegendKey val="0"/>
              <c:showVal val="0"/>
              <c:showCatName val="0"/>
              <c:showSerName val="0"/>
              <c:showPercent val="1"/>
              <c:showBubbleSize val="0"/>
            </c:dLbl>
            <c:dLbl>
              <c:idx val="1"/>
              <c:numFmt formatCode="0%" sourceLinked="0"/>
              <c:spPr/>
              <c:txPr>
                <a:bodyPr/>
                <a:lstStyle/>
                <a:p>
                  <a:pPr>
                    <a:defRPr sz="1400" b="1" i="0" u="none" strike="noStrike">
                      <a:solidFill>
                        <a:srgbClr val="FFFFFF"/>
                      </a:solidFill>
                      <a:latin typeface="+mn-lt"/>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Input tokens</c:v>
                </c:pt>
                <c:pt idx="1">
                  <c:v>Output tokens</c:v>
                </c:pt>
              </c:strCache>
            </c:strRef>
          </c:cat>
          <c:val>
            <c:numRef>
              <c:f>Sheet1!$B$2:$B$3</c:f>
              <c:numCache>
                <c:ptCount val="2"/>
                <c:pt idx="0">
                  <c:v>126236</c:v>
                </c:pt>
                <c:pt idx="1">
                  <c:v>3549</c:v>
                </c:pt>
              </c:numCache>
            </c:numRef>
          </c:val>
        </c:ser>
        <c:firstSliceAng val="0"/>
        <c:holeSize val="58"/>
      </c:doughnutChart>
      <c:spPr>
        <a:noFill/>
        <a:ln>
          <a:noFill/>
        </a:ln>
        <a:effectLst/>
      </c:spPr>
    </c:plotArea>
    <c:legend>
      <c:legendPos val="b"/>
      <c:overlay val="0"/>
      <c:txPr>
        <a:bodyPr/>
        <a:lstStyle/>
        <a:p>
          <a:pPr>
            <a:defRPr sz="1200">
              <a:solidFill>
                <a:srgbClr val="14232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Without compression</c:v>
                </c:pt>
              </c:strCache>
            </c:strRef>
          </c:tx>
          <c:spPr>
            <a:solidFill>
              <a:srgbClr val="D9532B"/>
            </a:solidFill>
            <a:effectLst/>
          </c:spPr>
          <c:invertIfNegative val="0"/>
          <c:dLbls>
            <c:numFmt formatCode="#,##0" sourceLinked="0"/>
            <c:txPr>
              <a:bodyPr/>
              <a:lstStyle/>
              <a:p>
                <a:pPr>
                  <a:defRPr b="0" i="0" strike="noStrike" sz="1000" u="none">
                    <a:solidFill>
                      <a:srgbClr val="14232B"/>
                    </a:solidFill>
                    <a:latin typeface="+mn-lt"/>
                  </a:defRPr>
                </a:pPr>
              </a:p>
            </c:txPr>
            <c:showLegendKey val="0"/>
            <c:showVal val="1"/>
            <c:showCatName val="0"/>
            <c:showSerName val="0"/>
            <c:showPercent val="0"/>
            <c:showBubbleSize val="0"/>
            <c:showLeaderLines val="0"/>
          </c:dLbls>
          <c:cat>
            <c:multiLvlStrRef>
              <c:f>Sheet1!$A$2:$A$7</c:f>
              <c:multiLvlStrCache>
                <c:ptCount val="6"/>
                <c:lvl>
                  <c:pt idx="0">
                    <c:v>checkout failures</c:v>
                  </c:pt>
                  <c:pt idx="1">
                    <c:v>error summary</c:v>
                  </c:pt>
                  <c:pt idx="2">
                    <c:v>open p1 issues</c:v>
                  </c:pt>
                  <c:pt idx="3">
                    <c:v>slow queries</c:v>
                  </c:pt>
                  <c:pt idx="4">
                    <c:v>rollback guidance</c:v>
                  </c:pt>
                  <c:pt idx="5">
                    <c:v>on call brief</c:v>
                  </c:pt>
                </c:lvl>
              </c:multiLvlStrCache>
            </c:multiLvlStrRef>
          </c:cat>
          <c:val>
            <c:numRef>
              <c:f>Sheet1!$B$2:$B$7</c:f>
              <c:numCache>
                <c:formatCode>General</c:formatCode>
                <c:ptCount val="6"/>
                <c:pt idx="0">
                  <c:v>26958</c:v>
                </c:pt>
                <c:pt idx="1">
                  <c:v>11221</c:v>
                </c:pt>
                <c:pt idx="2">
                  <c:v>8825</c:v>
                </c:pt>
                <c:pt idx="3">
                  <c:v>28780</c:v>
                </c:pt>
                <c:pt idx="4">
                  <c:v>27125</c:v>
                </c:pt>
                <c:pt idx="5">
                  <c:v>26876</c:v>
                </c:pt>
              </c:numCache>
            </c:numRef>
          </c:val>
        </c:ser>
        <c:ser>
          <c:idx val="1"/>
          <c:order val="1"/>
          <c:tx>
            <c:strRef>
              <c:f>Sheet1!$C$1</c:f>
              <c:strCache>
                <c:ptCount val="1"/>
                <c:pt idx="0">
                  <c:v>With Token Gate</c:v>
                </c:pt>
              </c:strCache>
            </c:strRef>
          </c:tx>
          <c:spPr>
            <a:solidFill>
              <a:srgbClr val="1E9A5A"/>
            </a:solidFill>
            <a:effectLst/>
          </c:spPr>
          <c:invertIfNegative val="0"/>
          <c:dLbls>
            <c:numFmt formatCode="#,##0" sourceLinked="0"/>
            <c:txPr>
              <a:bodyPr/>
              <a:lstStyle/>
              <a:p>
                <a:pPr>
                  <a:defRPr b="0" i="0" strike="noStrike" sz="1000" u="none">
                    <a:solidFill>
                      <a:srgbClr val="14232B"/>
                    </a:solidFill>
                    <a:latin typeface="+mn-lt"/>
                  </a:defRPr>
                </a:pPr>
              </a:p>
            </c:txPr>
            <c:showLegendKey val="0"/>
            <c:showVal val="1"/>
            <c:showCatName val="0"/>
            <c:showSerName val="0"/>
            <c:showPercent val="0"/>
            <c:showBubbleSize val="0"/>
            <c:showLeaderLines val="0"/>
          </c:dLbls>
          <c:cat>
            <c:multiLvlStrRef>
              <c:f>Sheet1!$A$2:$A$7</c:f>
              <c:multiLvlStrCache>
                <c:ptCount val="6"/>
                <c:lvl>
                  <c:pt idx="0">
                    <c:v>checkout failures</c:v>
                  </c:pt>
                  <c:pt idx="1">
                    <c:v>error summary</c:v>
                  </c:pt>
                  <c:pt idx="2">
                    <c:v>open p1 issues</c:v>
                  </c:pt>
                  <c:pt idx="3">
                    <c:v>slow queries</c:v>
                  </c:pt>
                  <c:pt idx="4">
                    <c:v>rollback guidance</c:v>
                  </c:pt>
                  <c:pt idx="5">
                    <c:v>on call brief</c:v>
                  </c:pt>
                </c:lvl>
              </c:multiLvlStrCache>
            </c:multiLvlStrRef>
          </c:cat>
          <c:val>
            <c:numRef>
              <c:f>Sheet1!$C$2:$C$7</c:f>
              <c:numCache>
                <c:formatCode>General</c:formatCode>
                <c:ptCount val="6"/>
                <c:pt idx="0">
                  <c:v>15249</c:v>
                </c:pt>
                <c:pt idx="1">
                  <c:v>7634</c:v>
                </c:pt>
                <c:pt idx="2">
                  <c:v>5678</c:v>
                </c:pt>
                <c:pt idx="3">
                  <c:v>11846</c:v>
                </c:pt>
                <c:pt idx="4">
                  <c:v>10076</c:v>
                </c:pt>
                <c:pt idx="5">
                  <c:v>15146</c:v>
                </c:pt>
              </c:numCache>
            </c:numRef>
          </c:val>
        </c:ser>
        <c:dLbls>
          <c:numFmt formatCode="#,##0" sourceLinked="0"/>
          <c:txPr>
            <a:bodyPr/>
            <a:lstStyle/>
            <a:p>
              <a:pPr>
                <a:defRPr b="0" i="0" strike="noStrike" sz="1000" u="none">
                  <a:solidFill>
                    <a:srgbClr val="14232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4232B"/>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5DFE2"/>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F7380"/>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4232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32B"/>
                </a:solidFill>
                <a:latin typeface="+mn-lt"/>
              </a:defRPr>
            </a:pPr>
            <a:r>
              <a:rPr sz="1400" b="0" i="0" u="none" strike="noStrike">
                <a:solidFill>
                  <a:srgbClr val="14232B"/>
                </a:solidFill>
                <a:latin typeface="+mn-lt"/>
              </a:rPr>
              <a:t>Estimated savings per month (USD)</a:t>
            </a:r>
          </a:p>
        </c:rich>
      </c:tx>
      <c:layout/>
      <c:overlay val="0"/>
    </c:title>
    <c:autoTitleDeleted val="0"/>
    <c:plotArea>
      <c:layout/>
      <c:barChart>
        <c:barDir val="col"/>
        <c:grouping val="clustered"/>
        <c:varyColors val="0"/>
        <c:ser>
          <c:idx val="0"/>
          <c:order val="0"/>
          <c:tx>
            <c:strRef>
              <c:f>Sheet1!$B$1</c:f>
              <c:strCache>
                <c:ptCount val="1"/>
                <c:pt idx="0">
                  <c:v>Estimated monthly savings</c:v>
                </c:pt>
              </c:strCache>
            </c:strRef>
          </c:tx>
          <c:spPr>
            <a:solidFill>
              <a:srgbClr val="1E9A5A"/>
            </a:solidFill>
            <a:effectLst/>
          </c:spPr>
          <c:invertIfNegative val="0"/>
          <c:dLbls>
            <c:numFmt formatCode="$#,##0" sourceLinked="0"/>
            <c:txPr>
              <a:bodyPr/>
              <a:lstStyle/>
              <a:p>
                <a:pPr>
                  <a:defRPr b="1" i="0" strike="noStrike" sz="1400" u="none">
                    <a:solidFill>
                      <a:srgbClr val="14232B"/>
                    </a:solidFill>
                    <a:latin typeface="+mn-lt"/>
                  </a:defRPr>
                </a:pPr>
              </a:p>
            </c:txPr>
            <c:showLegendKey val="0"/>
            <c:showVal val="1"/>
            <c:showCatName val="0"/>
            <c:showSerName val="0"/>
            <c:showPercent val="0"/>
            <c:showBubbleSize val="0"/>
            <c:showLeaderLines val="0"/>
          </c:dLbls>
          <c:cat>
            <c:multiLvlStrRef>
              <c:f>Sheet1!$A$2:$A$4</c:f>
              <c:multiLvlStrCache>
                <c:ptCount val="3"/>
                <c:lvl>
                  <c:pt idx="0">
                    <c:v>50 developers</c:v>
                  </c:pt>
                  <c:pt idx="1">
                    <c:v>250 developers</c:v>
                  </c:pt>
                  <c:pt idx="2">
                    <c:v>1,000 developers</c:v>
                  </c:pt>
                </c:lvl>
              </c:multiLvlStrCache>
            </c:multiLvlStrRef>
          </c:cat>
          <c:val>
            <c:numRef>
              <c:f>Sheet1!$B$2:$B$4</c:f>
              <c:numCache>
                <c:formatCode>General</c:formatCode>
                <c:ptCount val="3"/>
                <c:pt idx="0">
                  <c:v>478</c:v>
                </c:pt>
                <c:pt idx="1">
                  <c:v>2390</c:v>
                </c:pt>
                <c:pt idx="2">
                  <c:v>9560</c:v>
                </c:pt>
              </c:numCache>
            </c:numRef>
          </c:val>
        </c:ser>
        <c:dLbls>
          <c:numFmt formatCode="$#,##0" sourceLinked="0"/>
          <c:txPr>
            <a:bodyPr/>
            <a:lstStyle/>
            <a:p>
              <a:pPr>
                <a:defRPr b="1" i="0" strike="noStrike" sz="1400" u="none">
                  <a:solidFill>
                    <a:srgbClr val="14232B"/>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4232B"/>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5DFE2"/>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F73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232B"/>
                </a:solidFill>
                <a:latin typeface="+mn-lt"/>
              </a:defRPr>
            </a:pPr>
            <a:r>
              <a:rPr sz="1300" b="0" i="0" u="none" strike="noStrike">
                <a:solidFill>
                  <a:srgbClr val="14232B"/>
                </a:solidFill>
                <a:latin typeface="+mn-lt"/>
              </a:rPr>
              <a:t>Cost saving by output price (x input price)</a:t>
            </a:r>
          </a:p>
        </c:rich>
      </c:tx>
      <c:layout/>
      <c:overlay val="0"/>
    </c:title>
    <c:autoTitleDeleted val="0"/>
    <c:plotArea>
      <c:layout/>
      <c:barChart>
        <c:barDir val="col"/>
        <c:grouping val="clustered"/>
        <c:varyColors val="0"/>
        <c:ser>
          <c:idx val="0"/>
          <c:order val="0"/>
          <c:tx>
            <c:strRef>
              <c:f>Sheet1!$B$1</c:f>
              <c:strCache>
                <c:ptCount val="1"/>
                <c:pt idx="0">
                  <c:v>This benchmark's input/output mix</c:v>
                </c:pt>
              </c:strCache>
            </c:strRef>
          </c:tx>
          <c:spPr>
            <a:solidFill>
              <a:srgbClr val="1C7C8C"/>
            </a:solidFill>
            <a:effectLst/>
          </c:spPr>
          <c:invertIfNegative val="0"/>
          <c:dLbls>
            <c:numFmt formatCode="0&quot;%&quot;" sourceLinked="0"/>
            <c:txPr>
              <a:bodyPr/>
              <a:lstStyle/>
              <a:p>
                <a:pPr>
                  <a:defRPr b="0" i="0" strike="noStrike" sz="1200" u="none">
                    <a:solidFill>
                      <a:srgbClr val="14232B"/>
                    </a:solidFill>
                    <a:latin typeface="+mn-lt"/>
                  </a:defRPr>
                </a:pPr>
              </a:p>
            </c:txPr>
            <c:showLegendKey val="0"/>
            <c:showVal val="1"/>
            <c:showCatName val="0"/>
            <c:showSerName val="0"/>
            <c:showPercent val="0"/>
            <c:showBubbleSize val="0"/>
            <c:showLeaderLines val="0"/>
          </c:dLbls>
          <c:cat>
            <c:multiLvlStrRef>
              <c:f>Sheet1!$A$2:$A$4</c:f>
              <c:multiLvlStrCache>
                <c:ptCount val="3"/>
                <c:lvl>
                  <c:pt idx="0">
                    <c:v>Equal pricing (1x)</c:v>
                  </c:pt>
                  <c:pt idx="1">
                    <c:v>Haiku 4.5 (5x)</c:v>
                  </c:pt>
                  <c:pt idx="2">
                    <c:v>Some Gemini models (~8x)</c:v>
                  </c:pt>
                </c:lvl>
              </c:multiLvlStrCache>
            </c:multiLvlStrRef>
          </c:cat>
          <c:val>
            <c:numRef>
              <c:f>Sheet1!$B$2:$B$4</c:f>
              <c:numCache>
                <c:formatCode>General</c:formatCode>
                <c:ptCount val="3"/>
                <c:pt idx="0">
                  <c:v>49.4</c:v>
                </c:pt>
                <c:pt idx="1">
                  <c:v>45.3</c:v>
                </c:pt>
                <c:pt idx="2">
                  <c:v>42.7</c:v>
                </c:pt>
              </c:numCache>
            </c:numRef>
          </c:val>
        </c:ser>
        <c:ser>
          <c:idx val="1"/>
          <c:order val="1"/>
          <c:tx>
            <c:strRef>
              <c:f>Sheet1!$C$1</c:f>
              <c:strCache>
                <c:ptCount val="1"/>
                <c:pt idx="0">
                  <c:v>Output-heavy workload (4x the output)</c:v>
                </c:pt>
              </c:strCache>
            </c:strRef>
          </c:tx>
          <c:spPr>
            <a:solidFill>
              <a:srgbClr val="E2A72E"/>
            </a:solidFill>
            <a:effectLst/>
          </c:spPr>
          <c:invertIfNegative val="0"/>
          <c:dLbls>
            <c:numFmt formatCode="0&quot;%&quot;" sourceLinked="0"/>
            <c:txPr>
              <a:bodyPr/>
              <a:lstStyle/>
              <a:p>
                <a:pPr>
                  <a:defRPr b="0" i="0" strike="noStrike" sz="1200" u="none">
                    <a:solidFill>
                      <a:srgbClr val="14232B"/>
                    </a:solidFill>
                    <a:latin typeface="+mn-lt"/>
                  </a:defRPr>
                </a:pPr>
              </a:p>
            </c:txPr>
            <c:showLegendKey val="0"/>
            <c:showVal val="1"/>
            <c:showCatName val="0"/>
            <c:showSerName val="0"/>
            <c:showPercent val="0"/>
            <c:showBubbleSize val="0"/>
            <c:showLeaderLines val="0"/>
          </c:dLbls>
          <c:cat>
            <c:multiLvlStrRef>
              <c:f>Sheet1!$A$2:$A$4</c:f>
              <c:multiLvlStrCache>
                <c:ptCount val="3"/>
                <c:lvl>
                  <c:pt idx="0">
                    <c:v>Equal pricing (1x)</c:v>
                  </c:pt>
                  <c:pt idx="1">
                    <c:v>Haiku 4.5 (5x)</c:v>
                  </c:pt>
                  <c:pt idx="2">
                    <c:v>Some Gemini models (~8x)</c:v>
                  </c:pt>
                </c:lvl>
              </c:multiLvlStrCache>
            </c:multiLvlStrRef>
          </c:cat>
          <c:val>
            <c:numRef>
              <c:f>Sheet1!$C$2:$C$4</c:f>
              <c:numCache>
                <c:formatCode>General</c:formatCode>
                <c:ptCount val="3"/>
                <c:pt idx="0">
                  <c:v>46.2</c:v>
                </c:pt>
                <c:pt idx="1">
                  <c:v>35</c:v>
                </c:pt>
                <c:pt idx="2">
                  <c:v>30.1</c:v>
                </c:pt>
              </c:numCache>
            </c:numRef>
          </c:val>
        </c:ser>
        <c:dLbls>
          <c:numFmt formatCode="0&quot;%&quot;" sourceLinked="0"/>
          <c:txPr>
            <a:bodyPr/>
            <a:lstStyle/>
            <a:p>
              <a:pPr>
                <a:defRPr b="0" i="0" strike="noStrike" sz="1200" u="none">
                  <a:solidFill>
                    <a:srgbClr val="14232B"/>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4232B"/>
                </a:solidFill>
                <a:latin typeface="+mn-lt"/>
              </a:defRPr>
            </a:pPr>
            <a:endParaRPr lang="en-US"/>
          </a:p>
        </c:txPr>
        <c:crossAx val="2094734552"/>
        <c:crosses val="autoZero"/>
        <c:auto val="1"/>
        <c:lblAlgn val="ctr"/>
        <c:noMultiLvlLbl val="1"/>
      </c:catAx>
      <c:valAx>
        <c:axId val="2094734552"/>
        <c:scaling>
          <c:orientation val="minMax"/>
          <c:max val="60"/>
          <c:min val="0"/>
        </c:scaling>
        <c:delete val="0"/>
        <c:axPos val="l"/>
        <c:majorGridlines>
          <c:spPr>
            <a:ln w="6350" cap="flat">
              <a:solidFill>
                <a:srgbClr val="D5DFE2"/>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F7380"/>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14232B"/>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Token Gate: an org-level LiteLLM gateway that compresses agent traffic with Headroom before it reaches the model provider, and measures savings with compression on versus off. Everything in this deck comes from one benchmark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numbers to remember: about half the tokens, about 45 percent of the cost, and a few hundred dollars a month for a 50-developer team on this one workload. Flag early that the cost saving is smaller than the token saving because output tokens are not compressed.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cost problem in agent systems is mostly input. Each step re-sends everything the agent has seen so far, including big tool outputs. In this benchmark about 97 percent of tokens and 88 percent of cost were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diagram: left is today, every agent calls the provider with full-size context. Right is Token Gate: a single shared LiteLLM gateway with Headroom compression built in. Teams only change their api_base.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Tasks that pull the large log and runbook payloads compress most, around 60 percent. Tasks dominated by a smaller issues list compress least, around a third. Total tokens include input and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 savings are a few points lower than token savings because output tokens, which the gateway does not compress, cost five times as much as input on Haiku 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linear extrapolation of the per-request saving measured in the benchmark, using the org defaults in config.yaml. A request here is one agent task. Real numbers depend on the real mix of tools, payload sizes and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with finance and engineering leaders: the saving percentage depends on model pricing and response length. The chart is an illustration using this benchmark's measured input and output token counts, re-priced at different output-to-input ratios, and again with output volume multiplied by four. The 8x figure reflects some Gemini models, where output is priced around eight times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the limits. The error-summary task is worth pointing out: with compression the agent reported slightly lower error counts for two services. That may be run-to-run variation or a small loss from compression, and it is exactly what a pilot on real tasks should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ask: agree a pilot workflow and success criteria (token reduction, cost, and answer-quality checks) before committing to an org-wide rollout.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097280"/>
            <a:ext cx="7863840" cy="1554480"/>
          </a:xfrm>
          <a:prstGeom prst="rect">
            <a:avLst/>
          </a:prstGeom>
          <a:noFill/>
          <a:ln/>
        </p:spPr>
        <p:txBody>
          <a:bodyPr wrap="square" rtlCol="0"/>
          <a:lstStyle>
            <a:lvl1pPr indent="0" marL="0">
              <a:buNone/>
              <a:defRPr lang="en-US" sz="4000" b="1" dirty="0">
                <a:solidFill>
                  <a:schemeClr val="bg1"/>
                </a:solidFill>
              </a:defRPr>
            </a:lvl1pPr>
          </a:lstStyle>
          <a:p>
            <a:pPr indent="0" marL="0">
              <a:buNone/>
            </a:pPr>
            <a:endParaRPr lang="en-US" sz="4000" dirty="0"/>
          </a:p>
        </p:txBody>
      </p:sp>
      <p:sp>
        <p:nvSpPr>
          <p:cNvPr id="3" name="Text 0"/>
          <p:cNvSpPr/>
          <p:nvPr>
            <p:ph idx="101" type="body" hasCustomPrompt="1"/>
          </p:nvPr>
        </p:nvSpPr>
        <p:spPr>
          <a:xfrm>
            <a:off x="640080" y="2834640"/>
            <a:ext cx="7863840" cy="82296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914400"/>
          </a:xfrm>
          <a:prstGeom prst="rect">
            <a:avLst/>
          </a:prstGeom>
          <a:noFill/>
          <a:ln/>
        </p:spPr>
        <p:txBody>
          <a:bodyPr wrap="square" rtlCol="0"/>
          <a:lstStyle>
            <a:lvl1pPr indent="0" marL="0">
              <a:buNone/>
              <a:defRPr lang="en-US" sz="2800" b="1" dirty="0">
                <a:solidFill>
                  <a:schemeClr val="tx2"/>
                </a:solidFill>
              </a:defRPr>
            </a:lvl1pPr>
          </a:lstStyle>
          <a:p>
            <a:pPr indent="0" marL="0">
              <a:buNone/>
            </a:pPr>
            <a:endParaRPr lang="en-US" sz="2800" dirty="0"/>
          </a:p>
        </p:txBody>
      </p:sp>
      <p:sp>
        <p:nvSpPr>
          <p:cNvPr id="3" name="Text 0"/>
          <p:cNvSpPr/>
          <p:nvPr/>
        </p:nvSpPr>
        <p:spPr>
          <a:xfrm>
            <a:off x="457200" y="4754880"/>
            <a:ext cx="4572000" cy="256032"/>
          </a:xfrm>
          <a:prstGeom prst="rect">
            <a:avLst/>
          </a:prstGeom>
          <a:noFill/>
          <a:ln/>
        </p:spPr>
        <p:txBody>
          <a:bodyPr wrap="square" lIns="0" tIns="0" rIns="0" bIns="0" rtlCol="0" anchor="ctr"/>
          <a:lstStyle/>
          <a:p>
            <a:pPr indent="0" marL="0">
              <a:buNone/>
            </a:pPr>
            <a:r>
              <a:rPr lang="en-US" sz="1000" dirty="0">
                <a:solidFill>
                  <a:schemeClr val="accent5"/>
                </a:solidFill>
              </a:rPr>
              <a:t>Token Gate | LLM compression gateway</a:t>
            </a:r>
            <a:endParaRPr lang="en-US" sz="10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914400"/>
          </a:xfrm>
          <a:prstGeom prst="rect">
            <a:avLst/>
          </a:prstGeom>
          <a:noFill/>
          <a:ln/>
        </p:spPr>
        <p:txBody>
          <a:bodyPr wrap="square" rtlCol="0"/>
          <a:lstStyle>
            <a:lvl1pPr indent="0" marL="0">
              <a:buNone/>
              <a:defRPr lang="en-US" sz="2800" b="1" dirty="0">
                <a:solidFill>
                  <a:schemeClr val="bg1"/>
                </a:solidFill>
              </a:defRPr>
            </a:lvl1pPr>
          </a:lstStyle>
          <a:p>
            <a:pPr indent="0" marL="0">
              <a:buNone/>
            </a:pPr>
            <a:endParaRPr lang="en-US" sz="2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097280"/>
            <a:ext cx="7863840" cy="1554480"/>
          </a:xfrm>
          <a:prstGeom prst="rect">
            <a:avLst/>
          </a:prstGeom>
          <a:noFill/>
          <a:ln/>
        </p:spPr>
        <p:txBody>
          <a:bodyPr wrap="square" lIns="0" tIns="0" rIns="0" bIns="0" rtlCol="0" anchor="b"/>
          <a:lstStyle/>
          <a:p>
            <a:pPr indent="0" marL="0">
              <a:buNone/>
            </a:pPr>
            <a:r>
              <a:rPr lang="en-US" sz="4000" b="1" dirty="0">
                <a:solidFill>
                  <a:schemeClr val="bg1"/>
                </a:solidFill>
              </a:rPr>
              <a:t>Token Gate - An Org-Wide LLM Compression Gateway</a:t>
            </a:r>
            <a:endParaRPr lang="en-US" sz="4000" dirty="0"/>
          </a:p>
        </p:txBody>
      </p:sp>
      <p:sp>
        <p:nvSpPr>
          <p:cNvPr id="3" name="Text 0"/>
          <p:cNvSpPr/>
          <p:nvPr>
            <p:ph idx="101" type="body" hasCustomPrompt="1"/>
          </p:nvPr>
        </p:nvSpPr>
        <p:spPr>
          <a:xfrm>
            <a:off x="640080" y="2834640"/>
            <a:ext cx="7863840" cy="822960"/>
          </a:xfrm>
          <a:prstGeom prst="rect">
            <a:avLst/>
          </a:prstGeom>
          <a:noFill/>
          <a:ln/>
        </p:spPr>
        <p:txBody>
          <a:bodyPr wrap="square" lIns="0" tIns="0" rIns="0" bIns="0" rtlCol="0" anchor="t"/>
          <a:lstStyle/>
          <a:p>
            <a:pPr indent="0" marL="0">
              <a:buNone/>
            </a:pPr>
            <a:r>
              <a:rPr lang="en-US" sz="1800" dirty="0">
                <a:solidFill>
                  <a:schemeClr val="bg2"/>
                </a:solidFill>
              </a:rPr>
              <a:t>A LiteLLM gateway with Headroom compression: benchmark results and the enterprise savings case | October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914400"/>
          </a:xfrm>
          <a:prstGeom prst="rect">
            <a:avLst/>
          </a:prstGeom>
          <a:noFill/>
          <a:ln/>
        </p:spPr>
        <p:txBody>
          <a:bodyPr wrap="square" lIns="0" tIns="0" rIns="0" bIns="0" rtlCol="0" anchor="ctr"/>
          <a:lstStyle/>
          <a:p>
            <a:pPr indent="0" marL="0">
              <a:buNone/>
            </a:pPr>
            <a:r>
              <a:rPr lang="en-US" sz="2800" b="1" dirty="0">
                <a:solidFill>
                  <a:schemeClr val="tx2"/>
                </a:solidFill>
              </a:rPr>
              <a:t>Token Gate roughly halves the tokens agents send</a:t>
            </a:r>
            <a:endParaRPr lang="en-US" sz="2800" dirty="0"/>
          </a:p>
        </p:txBody>
      </p:sp>
      <p:sp>
        <p:nvSpPr>
          <p:cNvPr id="3" name="Stat card 1"/>
          <p:cNvSpPr/>
          <p:nvPr/>
        </p:nvSpPr>
        <p:spPr>
          <a:xfrm>
            <a:off x="457200" y="1280160"/>
            <a:ext cx="2560320" cy="2286000"/>
          </a:xfrm>
          <a:prstGeom prst="roundRect">
            <a:avLst>
              <a:gd name="adj" fmla="val 3200"/>
            </a:avLst>
          </a:prstGeom>
          <a:solidFill>
            <a:schemeClr val="bg2"/>
          </a:solidFill>
          <a:ln w="12700">
            <a:solidFill>
              <a:schemeClr val="bg2"/>
            </a:solidFill>
            <a:prstDash val="solid"/>
          </a:ln>
        </p:spPr>
      </p:sp>
      <p:sp>
        <p:nvSpPr>
          <p:cNvPr id="4" name="Stat 1"/>
          <p:cNvSpPr txBox="1"/>
          <p:nvPr/>
        </p:nvSpPr>
        <p:spPr>
          <a:xfrm>
            <a:off x="594360" y="1417320"/>
            <a:ext cx="2286000" cy="914400"/>
          </a:xfrm>
          <a:prstGeom prst="rect">
            <a:avLst/>
          </a:prstGeom>
          <a:noFill/>
          <a:ln/>
        </p:spPr>
        <p:txBody>
          <a:bodyPr wrap="square" lIns="0" tIns="0" rIns="0" bIns="0" rtlCol="0" anchor="ctr"/>
          <a:lstStyle/>
          <a:p>
            <a:pPr indent="0" marL="0">
              <a:buNone/>
            </a:pPr>
            <a:r>
              <a:rPr lang="en-US" sz="4800" b="1" dirty="0">
                <a:solidFill>
                  <a:schemeClr val="accent1"/>
                </a:solidFill>
              </a:rPr>
              <a:t>49.4%</a:t>
            </a:r>
            <a:endParaRPr lang="en-US" sz="4800" dirty="0"/>
          </a:p>
        </p:txBody>
      </p:sp>
      <p:sp>
        <p:nvSpPr>
          <p:cNvPr id="5" name="Text 3"/>
          <p:cNvSpPr txBox="1"/>
          <p:nvPr/>
        </p:nvSpPr>
        <p:spPr>
          <a:xfrm>
            <a:off x="594360" y="2331720"/>
            <a:ext cx="2286000" cy="365760"/>
          </a:xfrm>
          <a:prstGeom prst="rect">
            <a:avLst/>
          </a:prstGeom>
          <a:noFill/>
          <a:ln/>
        </p:spPr>
        <p:txBody>
          <a:bodyPr wrap="square" lIns="0" tIns="0" rIns="0" bIns="0" rtlCol="0" anchor="ctr"/>
          <a:lstStyle/>
          <a:p>
            <a:pPr indent="0" marL="0">
              <a:buNone/>
            </a:pPr>
            <a:r>
              <a:rPr lang="en-US" sz="1800" b="1" dirty="0">
                <a:solidFill>
                  <a:schemeClr val="tx1"/>
                </a:solidFill>
              </a:rPr>
              <a:t>fewer tokens</a:t>
            </a:r>
            <a:endParaRPr lang="en-US" sz="1800" dirty="0"/>
          </a:p>
        </p:txBody>
      </p:sp>
      <p:sp>
        <p:nvSpPr>
          <p:cNvPr id="6" name="Text 4"/>
          <p:cNvSpPr txBox="1"/>
          <p:nvPr/>
        </p:nvSpPr>
        <p:spPr>
          <a:xfrm>
            <a:off x="594360" y="2743200"/>
            <a:ext cx="2286000" cy="685800"/>
          </a:xfrm>
          <a:prstGeom prst="rect">
            <a:avLst/>
          </a:prstGeom>
          <a:noFill/>
          <a:ln/>
        </p:spPr>
        <p:txBody>
          <a:bodyPr wrap="square" lIns="0" tIns="0" rIns="0" bIns="0" rtlCol="0" anchor="t"/>
          <a:lstStyle/>
          <a:p>
            <a:pPr indent="0" marL="0">
              <a:buNone/>
            </a:pPr>
            <a:r>
              <a:rPr lang="en-US" sz="1400" dirty="0">
                <a:solidFill>
                  <a:schemeClr val="accent5"/>
                </a:solidFill>
              </a:rPr>
              <a:t>129,785 to 65,629 across 6 agent tasks</a:t>
            </a:r>
            <a:endParaRPr lang="en-US" sz="1400" dirty="0"/>
          </a:p>
        </p:txBody>
      </p:sp>
      <p:sp>
        <p:nvSpPr>
          <p:cNvPr id="7" name="Stat card 2"/>
          <p:cNvSpPr/>
          <p:nvPr/>
        </p:nvSpPr>
        <p:spPr>
          <a:xfrm>
            <a:off x="3291840" y="1280160"/>
            <a:ext cx="2560320" cy="2286000"/>
          </a:xfrm>
          <a:prstGeom prst="roundRect">
            <a:avLst>
              <a:gd name="adj" fmla="val 3200"/>
            </a:avLst>
          </a:prstGeom>
          <a:solidFill>
            <a:schemeClr val="bg2"/>
          </a:solidFill>
          <a:ln w="12700">
            <a:solidFill>
              <a:schemeClr val="bg2"/>
            </a:solidFill>
            <a:prstDash val="solid"/>
          </a:ln>
        </p:spPr>
      </p:sp>
      <p:sp>
        <p:nvSpPr>
          <p:cNvPr id="8" name="Stat 2"/>
          <p:cNvSpPr txBox="1"/>
          <p:nvPr/>
        </p:nvSpPr>
        <p:spPr>
          <a:xfrm>
            <a:off x="3429000" y="1417320"/>
            <a:ext cx="2286000" cy="914400"/>
          </a:xfrm>
          <a:prstGeom prst="rect">
            <a:avLst/>
          </a:prstGeom>
          <a:noFill/>
          <a:ln/>
        </p:spPr>
        <p:txBody>
          <a:bodyPr wrap="square" lIns="0" tIns="0" rIns="0" bIns="0" rtlCol="0" anchor="ctr"/>
          <a:lstStyle/>
          <a:p>
            <a:pPr indent="0" marL="0">
              <a:buNone/>
            </a:pPr>
            <a:r>
              <a:rPr lang="en-US" sz="4800" b="1" dirty="0">
                <a:solidFill>
                  <a:schemeClr val="accent1"/>
                </a:solidFill>
              </a:rPr>
              <a:t>45%</a:t>
            </a:r>
            <a:endParaRPr lang="en-US" sz="4800" dirty="0"/>
          </a:p>
        </p:txBody>
      </p:sp>
      <p:sp>
        <p:nvSpPr>
          <p:cNvPr id="9" name="Text 7"/>
          <p:cNvSpPr txBox="1"/>
          <p:nvPr/>
        </p:nvSpPr>
        <p:spPr>
          <a:xfrm>
            <a:off x="3429000" y="2331720"/>
            <a:ext cx="2286000" cy="365760"/>
          </a:xfrm>
          <a:prstGeom prst="rect">
            <a:avLst/>
          </a:prstGeom>
          <a:noFill/>
          <a:ln/>
        </p:spPr>
        <p:txBody>
          <a:bodyPr wrap="square" lIns="0" tIns="0" rIns="0" bIns="0" rtlCol="0" anchor="ctr"/>
          <a:lstStyle/>
          <a:p>
            <a:pPr indent="0" marL="0">
              <a:buNone/>
            </a:pPr>
            <a:r>
              <a:rPr lang="en-US" sz="1800" b="1" dirty="0">
                <a:solidFill>
                  <a:schemeClr val="tx1"/>
                </a:solidFill>
              </a:rPr>
              <a:t>lower LLM cost</a:t>
            </a:r>
            <a:endParaRPr lang="en-US" sz="1800" dirty="0"/>
          </a:p>
        </p:txBody>
      </p:sp>
      <p:sp>
        <p:nvSpPr>
          <p:cNvPr id="10" name="Text 8"/>
          <p:cNvSpPr txBox="1"/>
          <p:nvPr/>
        </p:nvSpPr>
        <p:spPr>
          <a:xfrm>
            <a:off x="3429000" y="2743200"/>
            <a:ext cx="2286000" cy="685800"/>
          </a:xfrm>
          <a:prstGeom prst="rect">
            <a:avLst/>
          </a:prstGeom>
          <a:noFill/>
          <a:ln/>
        </p:spPr>
        <p:txBody>
          <a:bodyPr wrap="square" lIns="0" tIns="0" rIns="0" bIns="0" rtlCol="0" anchor="t"/>
          <a:lstStyle/>
          <a:p>
            <a:pPr indent="0" marL="0">
              <a:buNone/>
            </a:pPr>
            <a:r>
              <a:rPr lang="en-US" sz="1400" dirty="0">
                <a:solidFill>
                  <a:schemeClr val="accent5"/>
                </a:solidFill>
              </a:rPr>
              <a:t>$0.144 to $0.079 for the same tasks</a:t>
            </a:r>
            <a:endParaRPr lang="en-US" sz="1400" dirty="0"/>
          </a:p>
        </p:txBody>
      </p:sp>
      <p:sp>
        <p:nvSpPr>
          <p:cNvPr id="11" name="Stat card 3"/>
          <p:cNvSpPr/>
          <p:nvPr/>
        </p:nvSpPr>
        <p:spPr>
          <a:xfrm>
            <a:off x="6126480" y="1280160"/>
            <a:ext cx="2560320" cy="2286000"/>
          </a:xfrm>
          <a:prstGeom prst="roundRect">
            <a:avLst>
              <a:gd name="adj" fmla="val 3200"/>
            </a:avLst>
          </a:prstGeom>
          <a:solidFill>
            <a:schemeClr val="bg2"/>
          </a:solidFill>
          <a:ln w="12700">
            <a:solidFill>
              <a:schemeClr val="bg2"/>
            </a:solidFill>
            <a:prstDash val="solid"/>
          </a:ln>
        </p:spPr>
      </p:sp>
      <p:sp>
        <p:nvSpPr>
          <p:cNvPr id="12" name="Stat 3"/>
          <p:cNvSpPr txBox="1"/>
          <p:nvPr/>
        </p:nvSpPr>
        <p:spPr>
          <a:xfrm>
            <a:off x="6263640" y="1417320"/>
            <a:ext cx="2286000" cy="914400"/>
          </a:xfrm>
          <a:prstGeom prst="rect">
            <a:avLst/>
          </a:prstGeom>
          <a:noFill/>
          <a:ln/>
        </p:spPr>
        <p:txBody>
          <a:bodyPr wrap="square" lIns="0" tIns="0" rIns="0" bIns="0" rtlCol="0" anchor="ctr"/>
          <a:lstStyle/>
          <a:p>
            <a:pPr indent="0" marL="0">
              <a:buNone/>
            </a:pPr>
            <a:r>
              <a:rPr lang="en-US" sz="4800" b="1" dirty="0">
                <a:solidFill>
                  <a:schemeClr val="accent1"/>
                </a:solidFill>
              </a:rPr>
              <a:t>~$478</a:t>
            </a:r>
            <a:endParaRPr lang="en-US" sz="4800" dirty="0"/>
          </a:p>
        </p:txBody>
      </p:sp>
      <p:sp>
        <p:nvSpPr>
          <p:cNvPr id="13" name="Text 11"/>
          <p:cNvSpPr txBox="1"/>
          <p:nvPr/>
        </p:nvSpPr>
        <p:spPr>
          <a:xfrm>
            <a:off x="6263640" y="2331720"/>
            <a:ext cx="2286000" cy="365760"/>
          </a:xfrm>
          <a:prstGeom prst="rect">
            <a:avLst/>
          </a:prstGeom>
          <a:noFill/>
          <a:ln/>
        </p:spPr>
        <p:txBody>
          <a:bodyPr wrap="square" lIns="0" tIns="0" rIns="0" bIns="0" rtlCol="0" anchor="ctr"/>
          <a:lstStyle/>
          <a:p>
            <a:pPr indent="0" marL="0">
              <a:buNone/>
            </a:pPr>
            <a:r>
              <a:rPr lang="en-US" sz="1800" b="1" dirty="0">
                <a:solidFill>
                  <a:schemeClr val="tx1"/>
                </a:solidFill>
              </a:rPr>
              <a:t>saved per month</a:t>
            </a:r>
            <a:endParaRPr lang="en-US" sz="1800" dirty="0"/>
          </a:p>
        </p:txBody>
      </p:sp>
      <p:sp>
        <p:nvSpPr>
          <p:cNvPr id="14" name="Text 12"/>
          <p:cNvSpPr txBox="1"/>
          <p:nvPr/>
        </p:nvSpPr>
        <p:spPr>
          <a:xfrm>
            <a:off x="6263640" y="2743200"/>
            <a:ext cx="2286000" cy="685800"/>
          </a:xfrm>
          <a:prstGeom prst="rect">
            <a:avLst/>
          </a:prstGeom>
          <a:noFill/>
          <a:ln/>
        </p:spPr>
        <p:txBody>
          <a:bodyPr wrap="square" lIns="0" tIns="0" rIns="0" bIns="0" rtlCol="0" anchor="t"/>
          <a:lstStyle/>
          <a:p>
            <a:pPr indent="0" marL="0">
              <a:buNone/>
            </a:pPr>
            <a:r>
              <a:rPr lang="en-US" sz="1400" dirty="0">
                <a:solidFill>
                  <a:schemeClr val="accent5"/>
                </a:solidFill>
              </a:rPr>
              <a:t>at 50 developers x 40 requests a day</a:t>
            </a:r>
            <a:endParaRPr lang="en-US" sz="1400" dirty="0"/>
          </a:p>
        </p:txBody>
      </p:sp>
      <p:sp>
        <p:nvSpPr>
          <p:cNvPr id="15" name="Takeaway"/>
          <p:cNvSpPr txBox="1"/>
          <p:nvPr/>
        </p:nvSpPr>
        <p:spPr>
          <a:xfrm>
            <a:off x="457200" y="3794760"/>
            <a:ext cx="8229600" cy="548640"/>
          </a:xfrm>
          <a:prstGeom prst="rect">
            <a:avLst/>
          </a:prstGeom>
          <a:noFill/>
          <a:ln/>
        </p:spPr>
        <p:txBody>
          <a:bodyPr wrap="square" lIns="0" tIns="0" rIns="0" bIns="0" rtlCol="0" anchor="ctr"/>
          <a:lstStyle/>
          <a:p>
            <a:pPr indent="0" marL="0">
              <a:buNone/>
            </a:pPr>
            <a:r>
              <a:rPr lang="en-US" sz="1600" dirty="0">
                <a:solidFill>
                  <a:schemeClr val="tx1"/>
                </a:solidFill>
              </a:rPr>
              <a:t>Savings come from input tokens only. Output-heavy models save less, so validate on your own traffic (slide 8).</a:t>
            </a:r>
            <a:endParaRPr lang="en-US" sz="1600" dirty="0"/>
          </a:p>
        </p:txBody>
      </p:sp>
      <p:sp>
        <p:nvSpPr>
          <p:cNvPr id="16" name="Source note"/>
          <p:cNvSpPr txBox="1"/>
          <p:nvPr/>
        </p:nvSpPr>
        <p:spPr>
          <a:xfrm>
            <a:off x="457200" y="4480560"/>
            <a:ext cx="8229600" cy="228600"/>
          </a:xfrm>
          <a:prstGeom prst="rect">
            <a:avLst/>
          </a:prstGeom>
          <a:noFill/>
          <a:ln/>
        </p:spPr>
        <p:txBody>
          <a:bodyPr wrap="square" lIns="0" tIns="0" rIns="0" bIns="0" rtlCol="0" anchor="ctr"/>
          <a:lstStyle/>
          <a:p>
            <a:pPr indent="0" marL="0">
              <a:buNone/>
            </a:pPr>
            <a:r>
              <a:rPr lang="en-US" sz="1000" dirty="0">
                <a:solidFill>
                  <a:schemeClr val="accent5"/>
                </a:solidFill>
              </a:rPr>
              <a:t>Source: Token Gate benchmark 2026-10-21, claude-haiku-4-5, proxy mode, 6 tasks x 1 run</a:t>
            </a:r>
            <a:endParaRPr lang="en-US" sz="10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914400"/>
          </a:xfrm>
          <a:prstGeom prst="rect">
            <a:avLst/>
          </a:prstGeom>
          <a:noFill/>
          <a:ln/>
        </p:spPr>
        <p:txBody>
          <a:bodyPr wrap="square" lIns="0" tIns="0" rIns="0" bIns="0" rtlCol="0" anchor="ctr"/>
          <a:lstStyle/>
          <a:p>
            <a:pPr indent="0" marL="0">
              <a:buNone/>
            </a:pPr>
            <a:r>
              <a:rPr lang="en-US" sz="2800" b="1" dirty="0">
                <a:solidFill>
                  <a:schemeClr val="tx2"/>
                </a:solidFill>
              </a:rPr>
              <a:t>Agents pay for the same tool output again and again</a:t>
            </a:r>
            <a:endParaRPr lang="en-US" sz="2800" dirty="0"/>
          </a:p>
        </p:txBody>
      </p:sp>
      <p:graphicFrame>
        <p:nvGraphicFramePr>
          <p:cNvPr id="3" name="Chart 0" descr=""/>
          <p:cNvGraphicFramePr/>
          <p:nvPr/>
        </p:nvGraphicFramePr>
        <p:xfrm>
          <a:off x="457200" y="1234440"/>
          <a:ext cx="3840480" cy="3108960"/>
        </p:xfrm>
        <a:graphic xmlns:a="http://schemas.openxmlformats.org/drawingml/2006/main">
          <a:graphicData uri="http://schemas.openxmlformats.org/drawingml/2006/chart">
            <c:chart xmlns:c="http://schemas.openxmlformats.org/drawingml/2006/chart" r:id="rId1"/>
          </a:graphicData>
        </a:graphic>
      </p:graphicFrame>
      <p:sp>
        <p:nvSpPr>
          <p:cNvPr id="4" name="Fact 1 figure"/>
          <p:cNvSpPr txBox="1"/>
          <p:nvPr/>
        </p:nvSpPr>
        <p:spPr>
          <a:xfrm>
            <a:off x="4663440" y="1280160"/>
            <a:ext cx="1280160" cy="822960"/>
          </a:xfrm>
          <a:prstGeom prst="rect">
            <a:avLst/>
          </a:prstGeom>
          <a:noFill/>
          <a:ln/>
        </p:spPr>
        <p:txBody>
          <a:bodyPr wrap="square" lIns="0" tIns="0" rIns="0" bIns="0" rtlCol="0" anchor="ctr"/>
          <a:lstStyle/>
          <a:p>
            <a:pPr indent="0" marL="0">
              <a:buNone/>
            </a:pPr>
            <a:r>
              <a:rPr lang="en-US" sz="4000" b="1" dirty="0">
                <a:solidFill>
                  <a:schemeClr val="accent2"/>
                </a:solidFill>
              </a:rPr>
              <a:t>97%</a:t>
            </a:r>
            <a:endParaRPr lang="en-US" sz="4000" dirty="0"/>
          </a:p>
        </p:txBody>
      </p:sp>
      <p:sp>
        <p:nvSpPr>
          <p:cNvPr id="5" name="Fact 1 text"/>
          <p:cNvSpPr txBox="1"/>
          <p:nvPr/>
        </p:nvSpPr>
        <p:spPr>
          <a:xfrm>
            <a:off x="6035040" y="1280160"/>
            <a:ext cx="2651760" cy="822960"/>
          </a:xfrm>
          <a:prstGeom prst="rect">
            <a:avLst/>
          </a:prstGeom>
          <a:noFill/>
          <a:ln/>
        </p:spPr>
        <p:txBody>
          <a:bodyPr wrap="square" lIns="0" tIns="0" rIns="0" bIns="0" rtlCol="0" anchor="ctr"/>
          <a:lstStyle/>
          <a:p>
            <a:pPr indent="0" marL="0">
              <a:buNone/>
            </a:pPr>
            <a:r>
              <a:rPr lang="en-US" sz="1400" dirty="0">
                <a:solidFill>
                  <a:schemeClr val="tx1"/>
                </a:solidFill>
              </a:rPr>
              <a:t>of all tokens are input: tool results (logs, issues, search hits) are re-sent on every agent step.</a:t>
            </a:r>
            <a:endParaRPr lang="en-US" sz="1400" dirty="0"/>
          </a:p>
        </p:txBody>
      </p:sp>
      <p:sp>
        <p:nvSpPr>
          <p:cNvPr id="6" name="Fact 2 figure"/>
          <p:cNvSpPr txBox="1"/>
          <p:nvPr/>
        </p:nvSpPr>
        <p:spPr>
          <a:xfrm>
            <a:off x="4663440" y="2331720"/>
            <a:ext cx="1280160" cy="822960"/>
          </a:xfrm>
          <a:prstGeom prst="rect">
            <a:avLst/>
          </a:prstGeom>
          <a:noFill/>
          <a:ln/>
        </p:spPr>
        <p:txBody>
          <a:bodyPr wrap="square" lIns="0" tIns="0" rIns="0" bIns="0" rtlCol="0" anchor="ctr"/>
          <a:lstStyle/>
          <a:p>
            <a:pPr indent="0" marL="0">
              <a:buNone/>
            </a:pPr>
            <a:r>
              <a:rPr lang="en-US" sz="4000" b="1" dirty="0">
                <a:solidFill>
                  <a:schemeClr val="accent2"/>
                </a:solidFill>
              </a:rPr>
              <a:t>88%</a:t>
            </a:r>
            <a:endParaRPr lang="en-US" sz="4000" dirty="0"/>
          </a:p>
        </p:txBody>
      </p:sp>
      <p:sp>
        <p:nvSpPr>
          <p:cNvPr id="7" name="Fact 2 text"/>
          <p:cNvSpPr txBox="1"/>
          <p:nvPr/>
        </p:nvSpPr>
        <p:spPr>
          <a:xfrm>
            <a:off x="6035040" y="2331720"/>
            <a:ext cx="2651760" cy="822960"/>
          </a:xfrm>
          <a:prstGeom prst="rect">
            <a:avLst/>
          </a:prstGeom>
          <a:noFill/>
          <a:ln/>
        </p:spPr>
        <p:txBody>
          <a:bodyPr wrap="square" lIns="0" tIns="0" rIns="0" bIns="0" rtlCol="0" anchor="ctr"/>
          <a:lstStyle/>
          <a:p>
            <a:pPr indent="0" marL="0">
              <a:buNone/>
            </a:pPr>
            <a:r>
              <a:rPr lang="en-US" sz="1400" dirty="0">
                <a:solidFill>
                  <a:schemeClr val="tx1"/>
                </a:solidFill>
              </a:rPr>
              <a:t>of the bill is input tokens on Claude Haiku 4.5 ($1 per million in, $5 per million out).</a:t>
            </a:r>
            <a:endParaRPr lang="en-US" sz="1400" dirty="0"/>
          </a:p>
        </p:txBody>
      </p:sp>
      <p:sp>
        <p:nvSpPr>
          <p:cNvPr id="8" name="Fact 3 figure"/>
          <p:cNvSpPr txBox="1"/>
          <p:nvPr/>
        </p:nvSpPr>
        <p:spPr>
          <a:xfrm>
            <a:off x="4663440" y="3383280"/>
            <a:ext cx="1280160" cy="822960"/>
          </a:xfrm>
          <a:prstGeom prst="rect">
            <a:avLst/>
          </a:prstGeom>
          <a:noFill/>
          <a:ln/>
        </p:spPr>
        <p:txBody>
          <a:bodyPr wrap="square" lIns="0" tIns="0" rIns="0" bIns="0" rtlCol="0" anchor="ctr"/>
          <a:lstStyle/>
          <a:p>
            <a:pPr indent="0" marL="0">
              <a:buNone/>
            </a:pPr>
            <a:r>
              <a:rPr lang="en-US" sz="3000" b="1" dirty="0">
                <a:solidFill>
                  <a:schemeClr val="accent2"/>
                </a:solidFill>
              </a:rPr>
              <a:t>JSON</a:t>
            </a:r>
            <a:endParaRPr lang="en-US" sz="3000" dirty="0"/>
          </a:p>
        </p:txBody>
      </p:sp>
      <p:sp>
        <p:nvSpPr>
          <p:cNvPr id="9" name="Fact 3 text"/>
          <p:cNvSpPr txBox="1"/>
          <p:nvPr/>
        </p:nvSpPr>
        <p:spPr>
          <a:xfrm>
            <a:off x="6035040" y="3383280"/>
            <a:ext cx="2651760" cy="822960"/>
          </a:xfrm>
          <a:prstGeom prst="rect">
            <a:avLst/>
          </a:prstGeom>
          <a:noFill/>
          <a:ln/>
        </p:spPr>
        <p:txBody>
          <a:bodyPr wrap="square" lIns="0" tIns="0" rIns="0" bIns="0" rtlCol="0" anchor="ctr"/>
          <a:lstStyle/>
          <a:p>
            <a:pPr indent="0" marL="0">
              <a:buNone/>
            </a:pPr>
            <a:r>
              <a:rPr lang="en-US" sz="1400" dirty="0">
                <a:solidFill>
                  <a:schemeClr val="tx1"/>
                </a:solidFill>
              </a:rPr>
              <a:t>tool payloads are verbose and repetitive, which is exactly what the gateway compresses well.</a:t>
            </a:r>
            <a:endParaRPr lang="en-US" sz="1400" dirty="0"/>
          </a:p>
        </p:txBody>
      </p:sp>
      <p:sp>
        <p:nvSpPr>
          <p:cNvPr id="10" name="Source note"/>
          <p:cNvSpPr txBox="1"/>
          <p:nvPr/>
        </p:nvSpPr>
        <p:spPr>
          <a:xfrm>
            <a:off x="457200" y="4480560"/>
            <a:ext cx="8229600" cy="228600"/>
          </a:xfrm>
          <a:prstGeom prst="rect">
            <a:avLst/>
          </a:prstGeom>
          <a:noFill/>
          <a:ln/>
        </p:spPr>
        <p:txBody>
          <a:bodyPr wrap="square" lIns="0" tIns="0" rIns="0" bIns="0" rtlCol="0" anchor="ctr"/>
          <a:lstStyle/>
          <a:p>
            <a:pPr indent="0" marL="0">
              <a:buNone/>
            </a:pPr>
            <a:r>
              <a:rPr lang="en-US" sz="1000" dirty="0">
                <a:solidFill>
                  <a:schemeClr val="accent5"/>
                </a:solidFill>
              </a:rPr>
              <a:t>Source: Token Gate benchmark 2026-10-21, claude-haiku-4-5, proxy mode, 6 tasks x 1 run</a:t>
            </a:r>
            <a:endParaRPr lang="en-US" sz="10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914400"/>
          </a:xfrm>
          <a:prstGeom prst="rect">
            <a:avLst/>
          </a:prstGeom>
          <a:noFill/>
          <a:ln/>
        </p:spPr>
        <p:txBody>
          <a:bodyPr wrap="square" lIns="0" tIns="0" rIns="0" bIns="0" rtlCol="0" anchor="ctr"/>
          <a:lstStyle/>
          <a:p>
            <a:pPr indent="0" marL="0">
              <a:buNone/>
            </a:pPr>
            <a:r>
              <a:rPr lang="en-US" sz="2800" b="1" dirty="0">
                <a:solidFill>
                  <a:schemeClr val="tx2"/>
                </a:solidFill>
              </a:rPr>
              <a:t>One LiteLLM gateway compresses traffic for every agent</a:t>
            </a:r>
            <a:endParaRPr lang="en-US" sz="2800" dirty="0"/>
          </a:p>
        </p:txBody>
      </p:sp>
      <p:pic>
        <p:nvPicPr>
          <p:cNvPr id="3" name="Architecture diagram" descr="Architecture diagram comparing LLM traffic without a gateway and with the Token Gate LiteLLM gateway using Headroom compression">    </p:cNvPr>
          <p:cNvPicPr>
            <a:picLocks noChangeAspect="1"/>
          </p:cNvPicPr>
          <p:nvPr/>
        </p:nvPicPr>
        <p:blipFill>
          <a:blip r:embed="rId1"/>
          <a:stretch>
            <a:fillRect/>
          </a:stretch>
        </p:blipFill>
        <p:spPr>
          <a:xfrm>
            <a:off x="457200" y="1280160"/>
            <a:ext cx="4846320" cy="3464362"/>
          </a:xfrm>
          <a:prstGeom prst="rect">
            <a:avLst/>
          </a:prstGeom>
        </p:spPr>
      </p:pic>
      <p:sp>
        <p:nvSpPr>
          <p:cNvPr id="4" name="Step 1 badge"/>
          <p:cNvSpPr/>
          <p:nvPr/>
        </p:nvSpPr>
        <p:spPr>
          <a:xfrm>
            <a:off x="5577840" y="1325880"/>
            <a:ext cx="384048" cy="384048"/>
          </a:xfrm>
          <a:prstGeom prst="ellipse">
            <a:avLst/>
          </a:prstGeom>
          <a:solidFill>
            <a:schemeClr val="accent1"/>
          </a:solidFill>
          <a:ln w="12700">
            <a:solidFill>
              <a:schemeClr val="accent1"/>
            </a:solidFill>
            <a:prstDash val="solid"/>
          </a:ln>
        </p:spPr>
      </p:sp>
      <p:sp>
        <p:nvSpPr>
          <p:cNvPr id="5" name="Text 2"/>
          <p:cNvSpPr txBox="1"/>
          <p:nvPr/>
        </p:nvSpPr>
        <p:spPr>
          <a:xfrm>
            <a:off x="5577840" y="13258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Step 1 text"/>
          <p:cNvSpPr txBox="1"/>
          <p:nvPr/>
        </p:nvSpPr>
        <p:spPr>
          <a:xfrm>
            <a:off x="6126480" y="1280160"/>
            <a:ext cx="2560320" cy="914400"/>
          </a:xfrm>
          <a:prstGeom prst="rect">
            <a:avLst/>
          </a:prstGeom>
          <a:noFill/>
          <a:ln/>
        </p:spPr>
        <p:txBody>
          <a:bodyPr wrap="square" lIns="0" tIns="0" rIns="0" bIns="0" rtlCol="0" anchor="t"/>
          <a:lstStyle/>
          <a:p>
            <a:pPr indent="0" marL="0">
              <a:buNone/>
            </a:pPr>
            <a:r>
              <a:rPr lang="en-US" sz="1600" b="1" dirty="0">
                <a:solidFill>
                  <a:schemeClr val="tx2"/>
                </a:solidFill>
              </a:rPr>
              <a:t>Agents stay unchanged</a:t>
            </a:r>
            <a:endParaRPr lang="en-US" sz="1600" dirty="0"/>
          </a:p>
          <a:p>
            <a:pPr indent="0" marL="0">
              <a:buNone/>
            </a:pPr>
            <a:r>
              <a:rPr lang="en-US" sz="1400" dirty="0">
                <a:solidFill>
                  <a:schemeClr val="tx1"/>
                </a:solidFill>
              </a:rPr>
              <a:t>Teams point their LiteLLM api_base at the gateway; no code rewrites.</a:t>
            </a:r>
            <a:endParaRPr lang="en-US" sz="1600" dirty="0"/>
          </a:p>
        </p:txBody>
      </p:sp>
      <p:sp>
        <p:nvSpPr>
          <p:cNvPr id="7" name="Step 2 badge"/>
          <p:cNvSpPr/>
          <p:nvPr/>
        </p:nvSpPr>
        <p:spPr>
          <a:xfrm>
            <a:off x="5577840" y="2350008"/>
            <a:ext cx="384048" cy="384048"/>
          </a:xfrm>
          <a:prstGeom prst="ellipse">
            <a:avLst/>
          </a:prstGeom>
          <a:solidFill>
            <a:schemeClr val="accent1"/>
          </a:solidFill>
          <a:ln w="12700">
            <a:solidFill>
              <a:schemeClr val="accent1"/>
            </a:solidFill>
            <a:prstDash val="solid"/>
          </a:ln>
        </p:spPr>
      </p:sp>
      <p:sp>
        <p:nvSpPr>
          <p:cNvPr id="8" name="Text 5"/>
          <p:cNvSpPr txBox="1"/>
          <p:nvPr/>
        </p:nvSpPr>
        <p:spPr>
          <a:xfrm>
            <a:off x="5577840" y="235000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Step 2 text"/>
          <p:cNvSpPr txBox="1"/>
          <p:nvPr/>
        </p:nvSpPr>
        <p:spPr>
          <a:xfrm>
            <a:off x="6126480" y="2304288"/>
            <a:ext cx="2560320" cy="914400"/>
          </a:xfrm>
          <a:prstGeom prst="rect">
            <a:avLst/>
          </a:prstGeom>
          <a:noFill/>
          <a:ln/>
        </p:spPr>
        <p:txBody>
          <a:bodyPr wrap="square" lIns="0" tIns="0" rIns="0" bIns="0" rtlCol="0" anchor="t"/>
          <a:lstStyle/>
          <a:p>
            <a:pPr indent="0" marL="0">
              <a:buNone/>
            </a:pPr>
            <a:r>
              <a:rPr lang="en-US" sz="1600" b="1" dirty="0">
                <a:solidFill>
                  <a:schemeClr val="tx2"/>
                </a:solidFill>
              </a:rPr>
              <a:t>The gateway compresses</a:t>
            </a:r>
            <a:endParaRPr lang="en-US" sz="1600" dirty="0"/>
          </a:p>
          <a:p>
            <a:pPr indent="0" marL="0">
              <a:buNone/>
            </a:pPr>
            <a:r>
              <a:rPr lang="en-US" sz="1400" dirty="0">
                <a:solidFill>
                  <a:schemeClr val="tx1"/>
                </a:solidFill>
              </a:rPr>
              <a:t>Headroom, inside the gateway, shrinks verbose tool output before the model sees it.</a:t>
            </a:r>
            <a:endParaRPr lang="en-US" sz="1600" dirty="0"/>
          </a:p>
        </p:txBody>
      </p:sp>
      <p:sp>
        <p:nvSpPr>
          <p:cNvPr id="10" name="Step 3 badge"/>
          <p:cNvSpPr/>
          <p:nvPr/>
        </p:nvSpPr>
        <p:spPr>
          <a:xfrm>
            <a:off x="5577840" y="3374136"/>
            <a:ext cx="384048" cy="384048"/>
          </a:xfrm>
          <a:prstGeom prst="ellipse">
            <a:avLst/>
          </a:prstGeom>
          <a:solidFill>
            <a:schemeClr val="accent1"/>
          </a:solidFill>
          <a:ln w="12700">
            <a:solidFill>
              <a:schemeClr val="accent1"/>
            </a:solidFill>
            <a:prstDash val="solid"/>
          </a:ln>
        </p:spPr>
      </p:sp>
      <p:sp>
        <p:nvSpPr>
          <p:cNvPr id="11" name="Text 8"/>
          <p:cNvSpPr txBox="1"/>
          <p:nvPr/>
        </p:nvSpPr>
        <p:spPr>
          <a:xfrm>
            <a:off x="5577840" y="337413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2" name="Step 3 text"/>
          <p:cNvSpPr txBox="1"/>
          <p:nvPr/>
        </p:nvSpPr>
        <p:spPr>
          <a:xfrm>
            <a:off x="6126480" y="3328416"/>
            <a:ext cx="2560320" cy="914400"/>
          </a:xfrm>
          <a:prstGeom prst="rect">
            <a:avLst/>
          </a:prstGeom>
          <a:noFill/>
          <a:ln/>
        </p:spPr>
        <p:txBody>
          <a:bodyPr wrap="square" lIns="0" tIns="0" rIns="0" bIns="0" rtlCol="0" anchor="t"/>
          <a:lstStyle/>
          <a:p>
            <a:pPr indent="0" marL="0">
              <a:buNone/>
            </a:pPr>
            <a:r>
              <a:rPr lang="en-US" sz="1600" b="1" dirty="0">
                <a:solidFill>
                  <a:schemeClr val="tx2"/>
                </a:solidFill>
              </a:rPr>
              <a:t>Savings are measured</a:t>
            </a:r>
            <a:endParaRPr lang="en-US" sz="1600" dirty="0"/>
          </a:p>
          <a:p>
            <a:pPr indent="0" marL="0">
              <a:buNone/>
            </a:pPr>
            <a:r>
              <a:rPr lang="en-US" sz="1400" dirty="0">
                <a:solidFill>
                  <a:schemeClr val="tx1"/>
                </a:solidFill>
              </a:rPr>
              <a:t>LiteLLM reports tokens and cost, so savings are visible per task and per team.</a:t>
            </a:r>
            <a:endParaRPr lang="en-US" sz="16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914400"/>
          </a:xfrm>
          <a:prstGeom prst="rect">
            <a:avLst/>
          </a:prstGeom>
          <a:noFill/>
          <a:ln/>
        </p:spPr>
        <p:txBody>
          <a:bodyPr wrap="square" lIns="0" tIns="0" rIns="0" bIns="0" rtlCol="0" anchor="ctr"/>
          <a:lstStyle/>
          <a:p>
            <a:pPr indent="0" marL="0">
              <a:buNone/>
            </a:pPr>
            <a:r>
              <a:rPr lang="en-US" sz="2800" b="1" dirty="0">
                <a:solidFill>
                  <a:schemeClr val="tx2"/>
                </a:solidFill>
              </a:rPr>
              <a:t>Every task used fewer tokens: 32% to 63% fewer</a:t>
            </a:r>
            <a:endParaRPr lang="en-US" sz="2800" dirty="0"/>
          </a:p>
        </p:txBody>
      </p:sp>
      <p:graphicFrame>
        <p:nvGraphicFramePr>
          <p:cNvPr id="3" name="Chart 0" descr=""/>
          <p:cNvGraphicFramePr/>
          <p:nvPr/>
        </p:nvGraphicFramePr>
        <p:xfrm>
          <a:off x="457200" y="1188720"/>
          <a:ext cx="8229600" cy="3246120"/>
        </p:xfrm>
        <a:graphic xmlns:a="http://schemas.openxmlformats.org/drawingml/2006/main">
          <a:graphicData uri="http://schemas.openxmlformats.org/drawingml/2006/chart">
            <c:chart xmlns:c="http://schemas.openxmlformats.org/drawingml/2006/chart" r:id="rId1"/>
          </a:graphicData>
        </a:graphic>
      </p:graphicFrame>
      <p:sp>
        <p:nvSpPr>
          <p:cNvPr id="4" name="Source note"/>
          <p:cNvSpPr txBox="1"/>
          <p:nvPr/>
        </p:nvSpPr>
        <p:spPr>
          <a:xfrm>
            <a:off x="457200" y="4480560"/>
            <a:ext cx="8229600" cy="228600"/>
          </a:xfrm>
          <a:prstGeom prst="rect">
            <a:avLst/>
          </a:prstGeom>
          <a:noFill/>
          <a:ln/>
        </p:spPr>
        <p:txBody>
          <a:bodyPr wrap="square" lIns="0" tIns="0" rIns="0" bIns="0" rtlCol="0" anchor="ctr"/>
          <a:lstStyle/>
          <a:p>
            <a:pPr indent="0" marL="0">
              <a:buNone/>
            </a:pPr>
            <a:r>
              <a:rPr lang="en-US" sz="1000" dirty="0">
                <a:solidFill>
                  <a:schemeClr val="accent5"/>
                </a:solidFill>
              </a:rPr>
              <a:t>Source: Token Gate benchmark 2026-10-21, claude-haiku-4-5, proxy mode, 6 tasks x 1 run</a:t>
            </a:r>
            <a:endParaRPr lang="en-US" sz="10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914400"/>
          </a:xfrm>
          <a:prstGeom prst="rect">
            <a:avLst/>
          </a:prstGeom>
          <a:noFill/>
          <a:ln/>
        </p:spPr>
        <p:txBody>
          <a:bodyPr wrap="square" lIns="0" tIns="0" rIns="0" bIns="0" rtlCol="0" anchor="ctr"/>
          <a:lstStyle/>
          <a:p>
            <a:pPr indent="0" marL="0">
              <a:buNone/>
            </a:pPr>
            <a:r>
              <a:rPr lang="en-US" sz="2800" b="1" dirty="0">
                <a:solidFill>
                  <a:schemeClr val="tx2"/>
                </a:solidFill>
              </a:rPr>
              <a:t>The same work cost $0.065 less, a 45% saving</a:t>
            </a:r>
            <a:endParaRPr lang="en-US" sz="2800" dirty="0"/>
          </a:p>
        </p:txBody>
      </p:sp>
      <p:graphicFrame>
        <p:nvGraphicFramePr>
          <p:cNvPr id="7" name="Cost table"/>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2194560"/>
                <a:gridCol w="1234440"/>
                <a:gridCol w="1234440"/>
                <a:gridCol w="914400"/>
                <a:gridCol w="1325880"/>
                <a:gridCol w="1325880"/>
              </a:tblGrid>
              <a:tr h="342900">
                <a:tc>
                  <a:txBody>
                    <a:bodyPr/>
                    <a:lstStyle/>
                    <a:p>
                      <a:pPr algn="l" indent="0" marL="0">
                        <a:buNone/>
                      </a:pPr>
                      <a:r>
                        <a:rPr lang="en-US" sz="1300" b="1" dirty="0">
                          <a:solidFill>
                            <a:srgbClr val="FFFFFF"/>
                          </a:solidFill>
                        </a:rPr>
                        <a:t>Task</a:t>
                      </a:r>
                      <a:endParaRPr lang="en-US" sz="1300" dirty="0"/>
                    </a:p>
                  </a:txBody>
                  <a:tcPr marL="73152" marR="73152" marT="0" marB="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0B3C49"/>
                    </a:solidFill>
                  </a:tcPr>
                </a:tc>
                <a:tc>
                  <a:txBody>
                    <a:bodyPr/>
                    <a:lstStyle/>
                    <a:p>
                      <a:pPr algn="r" indent="0" marL="0">
                        <a:buNone/>
                      </a:pPr>
                      <a:r>
                        <a:rPr lang="en-US" sz="1300" b="1" dirty="0">
                          <a:solidFill>
                            <a:srgbClr val="FFFFFF"/>
                          </a:solidFill>
                        </a:rPr>
                        <a:t>Tokens before</a:t>
                      </a:r>
                      <a:endParaRPr lang="en-US" sz="1300" dirty="0"/>
                    </a:p>
                  </a:txBody>
                  <a:tcPr marL="73152" marR="73152" marT="0" marB="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0B3C49"/>
                    </a:solidFill>
                  </a:tcPr>
                </a:tc>
                <a:tc>
                  <a:txBody>
                    <a:bodyPr/>
                    <a:lstStyle/>
                    <a:p>
                      <a:pPr algn="r" indent="0" marL="0">
                        <a:buNone/>
                      </a:pPr>
                      <a:r>
                        <a:rPr lang="en-US" sz="1300" b="1" dirty="0">
                          <a:solidFill>
                            <a:srgbClr val="FFFFFF"/>
                          </a:solidFill>
                        </a:rPr>
                        <a:t>Tokens after</a:t>
                      </a:r>
                      <a:endParaRPr lang="en-US" sz="1300" dirty="0"/>
                    </a:p>
                  </a:txBody>
                  <a:tcPr marL="73152" marR="73152" marT="0" marB="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0B3C49"/>
                    </a:solidFill>
                  </a:tcPr>
                </a:tc>
                <a:tc>
                  <a:txBody>
                    <a:bodyPr/>
                    <a:lstStyle/>
                    <a:p>
                      <a:pPr algn="r" indent="0" marL="0">
                        <a:buNone/>
                      </a:pPr>
                      <a:r>
                        <a:rPr lang="en-US" sz="1300" b="1" dirty="0">
                          <a:solidFill>
                            <a:srgbClr val="FFFFFF"/>
                          </a:solidFill>
                        </a:rPr>
                        <a:t>Saved</a:t>
                      </a:r>
                      <a:endParaRPr lang="en-US" sz="1300" dirty="0"/>
                    </a:p>
                  </a:txBody>
                  <a:tcPr marL="73152" marR="73152" marT="0" marB="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0B3C49"/>
                    </a:solidFill>
                  </a:tcPr>
                </a:tc>
                <a:tc>
                  <a:txBody>
                    <a:bodyPr/>
                    <a:lstStyle/>
                    <a:p>
                      <a:pPr algn="r" indent="0" marL="0">
                        <a:buNone/>
                      </a:pPr>
                      <a:r>
                        <a:rPr lang="en-US" sz="1300" b="1" dirty="0">
                          <a:solidFill>
                            <a:srgbClr val="FFFFFF"/>
                          </a:solidFill>
                        </a:rPr>
                        <a:t>Cost before</a:t>
                      </a:r>
                      <a:endParaRPr lang="en-US" sz="1300" dirty="0"/>
                    </a:p>
                  </a:txBody>
                  <a:tcPr marL="73152" marR="73152" marT="0" marB="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0B3C49"/>
                    </a:solidFill>
                  </a:tcPr>
                </a:tc>
                <a:tc>
                  <a:txBody>
                    <a:bodyPr/>
                    <a:lstStyle/>
                    <a:p>
                      <a:pPr algn="r" indent="0" marL="0">
                        <a:buNone/>
                      </a:pPr>
                      <a:r>
                        <a:rPr lang="en-US" sz="1300" b="1" dirty="0">
                          <a:solidFill>
                            <a:srgbClr val="FFFFFF"/>
                          </a:solidFill>
                        </a:rPr>
                        <a:t>Cost after</a:t>
                      </a:r>
                      <a:endParaRPr lang="en-US" sz="1300" dirty="0"/>
                    </a:p>
                  </a:txBody>
                  <a:tcPr marL="73152" marR="73152" marT="0" marB="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0B3C49"/>
                    </a:solidFill>
                  </a:tcPr>
                </a:tc>
              </a:tr>
              <a:tr h="342900">
                <a:tc>
                  <a:txBody>
                    <a:bodyPr/>
                    <a:lstStyle/>
                    <a:p>
                      <a:pPr algn="l" indent="0" marL="0">
                        <a:buNone/>
                      </a:pPr>
                      <a:r>
                        <a:rPr lang="en-US" sz="1300" dirty="0">
                          <a:solidFill>
                            <a:srgbClr val="14232B"/>
                          </a:solidFill>
                        </a:rPr>
                        <a:t>checkout failures</a:t>
                      </a:r>
                      <a:endParaRPr lang="en-US" sz="1300" dirty="0"/>
                    </a:p>
                  </a:txBody>
                  <a:tcPr marL="73152" marR="73152" marT="0" marB="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EAF2F3"/>
                    </a:solidFill>
                  </a:tcPr>
                </a:tc>
                <a:tc>
                  <a:txBody>
                    <a:bodyPr/>
                    <a:lstStyle/>
                    <a:p>
                      <a:pPr algn="r" indent="0" marL="0">
                        <a:buNone/>
                      </a:pPr>
                      <a:r>
                        <a:rPr lang="en-US" sz="1300" dirty="0">
                          <a:solidFill>
                            <a:srgbClr val="14232B"/>
                          </a:solidFill>
                        </a:rPr>
                        <a:t>26,958</a:t>
                      </a:r>
                      <a:endParaRPr lang="en-US" sz="1300" dirty="0"/>
                    </a:p>
                  </a:txBody>
                  <a:tcPr marL="73152" marR="73152" marT="0" marB="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EAF2F3"/>
                    </a:solidFill>
                  </a:tcPr>
                </a:tc>
                <a:tc>
                  <a:txBody>
                    <a:bodyPr/>
                    <a:lstStyle/>
                    <a:p>
                      <a:pPr algn="r" indent="0" marL="0">
                        <a:buNone/>
                      </a:pPr>
                      <a:r>
                        <a:rPr lang="en-US" sz="1300" dirty="0">
                          <a:solidFill>
                            <a:srgbClr val="14232B"/>
                          </a:solidFill>
                        </a:rPr>
                        <a:t>15,249</a:t>
                      </a:r>
                      <a:endParaRPr lang="en-US" sz="1300" dirty="0"/>
                    </a:p>
                  </a:txBody>
                  <a:tcPr marL="73152" marR="73152" marT="0" marB="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EAF2F3"/>
                    </a:solidFill>
                  </a:tcPr>
                </a:tc>
                <a:tc>
                  <a:txBody>
                    <a:bodyPr/>
                    <a:lstStyle/>
                    <a:p>
                      <a:pPr algn="r" indent="0" marL="0">
                        <a:buNone/>
                      </a:pPr>
                      <a:r>
                        <a:rPr lang="en-US" sz="1300" b="1" dirty="0">
                          <a:solidFill>
                            <a:srgbClr val="1E9A5A"/>
                          </a:solidFill>
                        </a:rPr>
                        <a:t>43.4%</a:t>
                      </a:r>
                      <a:endParaRPr lang="en-US" sz="1300" dirty="0"/>
                    </a:p>
                  </a:txBody>
                  <a:tcPr marL="73152" marR="73152" marT="0" marB="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EAF2F3"/>
                    </a:solidFill>
                  </a:tcPr>
                </a:tc>
                <a:tc>
                  <a:txBody>
                    <a:bodyPr/>
                    <a:lstStyle/>
                    <a:p>
                      <a:pPr algn="r" indent="0" marL="0">
                        <a:buNone/>
                      </a:pPr>
                      <a:r>
                        <a:rPr lang="en-US" sz="1300" dirty="0">
                          <a:solidFill>
                            <a:srgbClr val="14232B"/>
                          </a:solidFill>
                        </a:rPr>
                        <a:t>$0.0295</a:t>
                      </a:r>
                      <a:endParaRPr lang="en-US" sz="1300" dirty="0"/>
                    </a:p>
                  </a:txBody>
                  <a:tcPr marL="73152" marR="73152" marT="0" marB="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EAF2F3"/>
                    </a:solidFill>
                  </a:tcPr>
                </a:tc>
                <a:tc>
                  <a:txBody>
                    <a:bodyPr/>
                    <a:lstStyle/>
                    <a:p>
                      <a:pPr algn="r" indent="0" marL="0">
                        <a:buNone/>
                      </a:pPr>
                      <a:r>
                        <a:rPr lang="en-US" sz="1300" dirty="0">
                          <a:solidFill>
                            <a:srgbClr val="14232B"/>
                          </a:solidFill>
                        </a:rPr>
                        <a:t>$0.0182</a:t>
                      </a:r>
                      <a:endParaRPr lang="en-US" sz="1300" dirty="0"/>
                    </a:p>
                  </a:txBody>
                  <a:tcPr marL="73152" marR="73152" marT="0" marB="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EAF2F3"/>
                    </a:solidFill>
                  </a:tcPr>
                </a:tc>
              </a:tr>
              <a:tr h="342900">
                <a:tc>
                  <a:txBody>
                    <a:bodyPr/>
                    <a:lstStyle/>
                    <a:p>
                      <a:pPr algn="l" indent="0" marL="0">
                        <a:buNone/>
                      </a:pPr>
                      <a:r>
                        <a:rPr lang="en-US" sz="1300" dirty="0">
                          <a:solidFill>
                            <a:srgbClr val="14232B"/>
                          </a:solidFill>
                        </a:rPr>
                        <a:t>error summary</a:t>
                      </a:r>
                      <a:endParaRPr lang="en-US" sz="1300" dirty="0"/>
                    </a:p>
                  </a:txBody>
                  <a:tcPr marL="73152" marR="73152" marT="0" marB="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32B"/>
                          </a:solidFill>
                        </a:rPr>
                        <a:t>11,221</a:t>
                      </a:r>
                      <a:endParaRPr lang="en-US" sz="1300" dirty="0"/>
                    </a:p>
                  </a:txBody>
                  <a:tcPr marL="73152" marR="73152" marT="0" marB="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32B"/>
                          </a:solidFill>
                        </a:rPr>
                        <a:t>7,634</a:t>
                      </a:r>
                      <a:endParaRPr lang="en-US" sz="1300" dirty="0"/>
                    </a:p>
                  </a:txBody>
                  <a:tcPr marL="73152" marR="73152" marT="0" marB="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1E9A5A"/>
                          </a:solidFill>
                        </a:rPr>
                        <a:t>32%</a:t>
                      </a:r>
                      <a:endParaRPr lang="en-US" sz="1300" dirty="0"/>
                    </a:p>
                  </a:txBody>
                  <a:tcPr marL="73152" marR="73152" marT="0" marB="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32B"/>
                          </a:solidFill>
                        </a:rPr>
                        <a:t>$0.0132</a:t>
                      </a:r>
                      <a:endParaRPr lang="en-US" sz="1300" dirty="0"/>
                    </a:p>
                  </a:txBody>
                  <a:tcPr marL="73152" marR="73152" marT="0" marB="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32B"/>
                          </a:solidFill>
                        </a:rPr>
                        <a:t>$0.0094</a:t>
                      </a:r>
                      <a:endParaRPr lang="en-US" sz="1300" dirty="0"/>
                    </a:p>
                  </a:txBody>
                  <a:tcPr marL="73152" marR="73152" marT="0" marB="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FFFFFF"/>
                    </a:solidFill>
                  </a:tcPr>
                </a:tc>
              </a:tr>
              <a:tr h="342900">
                <a:tc>
                  <a:txBody>
                    <a:bodyPr/>
                    <a:lstStyle/>
                    <a:p>
                      <a:pPr algn="l" indent="0" marL="0">
                        <a:buNone/>
                      </a:pPr>
                      <a:r>
                        <a:rPr lang="en-US" sz="1300" dirty="0">
                          <a:solidFill>
                            <a:srgbClr val="14232B"/>
                          </a:solidFill>
                        </a:rPr>
                        <a:t>open p1 issues</a:t>
                      </a:r>
                      <a:endParaRPr lang="en-US" sz="1300" dirty="0"/>
                    </a:p>
                  </a:txBody>
                  <a:tcPr marL="73152" marR="73152" marT="0" marB="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EAF2F3"/>
                    </a:solidFill>
                  </a:tcPr>
                </a:tc>
                <a:tc>
                  <a:txBody>
                    <a:bodyPr/>
                    <a:lstStyle/>
                    <a:p>
                      <a:pPr algn="r" indent="0" marL="0">
                        <a:buNone/>
                      </a:pPr>
                      <a:r>
                        <a:rPr lang="en-US" sz="1300" dirty="0">
                          <a:solidFill>
                            <a:srgbClr val="14232B"/>
                          </a:solidFill>
                        </a:rPr>
                        <a:t>8,825</a:t>
                      </a:r>
                      <a:endParaRPr lang="en-US" sz="1300" dirty="0"/>
                    </a:p>
                  </a:txBody>
                  <a:tcPr marL="73152" marR="73152" marT="0" marB="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EAF2F3"/>
                    </a:solidFill>
                  </a:tcPr>
                </a:tc>
                <a:tc>
                  <a:txBody>
                    <a:bodyPr/>
                    <a:lstStyle/>
                    <a:p>
                      <a:pPr algn="r" indent="0" marL="0">
                        <a:buNone/>
                      </a:pPr>
                      <a:r>
                        <a:rPr lang="en-US" sz="1300" dirty="0">
                          <a:solidFill>
                            <a:srgbClr val="14232B"/>
                          </a:solidFill>
                        </a:rPr>
                        <a:t>5,678</a:t>
                      </a:r>
                      <a:endParaRPr lang="en-US" sz="1300" dirty="0"/>
                    </a:p>
                  </a:txBody>
                  <a:tcPr marL="73152" marR="73152" marT="0" marB="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EAF2F3"/>
                    </a:solidFill>
                  </a:tcPr>
                </a:tc>
                <a:tc>
                  <a:txBody>
                    <a:bodyPr/>
                    <a:lstStyle/>
                    <a:p>
                      <a:pPr algn="r" indent="0" marL="0">
                        <a:buNone/>
                      </a:pPr>
                      <a:r>
                        <a:rPr lang="en-US" sz="1300" b="1" dirty="0">
                          <a:solidFill>
                            <a:srgbClr val="1E9A5A"/>
                          </a:solidFill>
                        </a:rPr>
                        <a:t>35.7%</a:t>
                      </a:r>
                      <a:endParaRPr lang="en-US" sz="1300" dirty="0"/>
                    </a:p>
                  </a:txBody>
                  <a:tcPr marL="73152" marR="73152" marT="0" marB="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EAF2F3"/>
                    </a:solidFill>
                  </a:tcPr>
                </a:tc>
                <a:tc>
                  <a:txBody>
                    <a:bodyPr/>
                    <a:lstStyle/>
                    <a:p>
                      <a:pPr algn="r" indent="0" marL="0">
                        <a:buNone/>
                      </a:pPr>
                      <a:r>
                        <a:rPr lang="en-US" sz="1300" dirty="0">
                          <a:solidFill>
                            <a:srgbClr val="14232B"/>
                          </a:solidFill>
                        </a:rPr>
                        <a:t>$0.0103</a:t>
                      </a:r>
                      <a:endParaRPr lang="en-US" sz="1300" dirty="0"/>
                    </a:p>
                  </a:txBody>
                  <a:tcPr marL="73152" marR="73152" marT="0" marB="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EAF2F3"/>
                    </a:solidFill>
                  </a:tcPr>
                </a:tc>
                <a:tc>
                  <a:txBody>
                    <a:bodyPr/>
                    <a:lstStyle/>
                    <a:p>
                      <a:pPr algn="r" indent="0" marL="0">
                        <a:buNone/>
                      </a:pPr>
                      <a:r>
                        <a:rPr lang="en-US" sz="1300" dirty="0">
                          <a:solidFill>
                            <a:srgbClr val="14232B"/>
                          </a:solidFill>
                        </a:rPr>
                        <a:t>$0.0071</a:t>
                      </a:r>
                      <a:endParaRPr lang="en-US" sz="1300" dirty="0"/>
                    </a:p>
                  </a:txBody>
                  <a:tcPr marL="73152" marR="73152" marT="0" marB="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EAF2F3"/>
                    </a:solidFill>
                  </a:tcPr>
                </a:tc>
              </a:tr>
              <a:tr h="342900">
                <a:tc>
                  <a:txBody>
                    <a:bodyPr/>
                    <a:lstStyle/>
                    <a:p>
                      <a:pPr algn="l" indent="0" marL="0">
                        <a:buNone/>
                      </a:pPr>
                      <a:r>
                        <a:rPr lang="en-US" sz="1300" dirty="0">
                          <a:solidFill>
                            <a:srgbClr val="14232B"/>
                          </a:solidFill>
                        </a:rPr>
                        <a:t>slow queries</a:t>
                      </a:r>
                      <a:endParaRPr lang="en-US" sz="1300" dirty="0"/>
                    </a:p>
                  </a:txBody>
                  <a:tcPr marL="73152" marR="73152" marT="0" marB="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32B"/>
                          </a:solidFill>
                        </a:rPr>
                        <a:t>28,780</a:t>
                      </a:r>
                      <a:endParaRPr lang="en-US" sz="1300" dirty="0"/>
                    </a:p>
                  </a:txBody>
                  <a:tcPr marL="73152" marR="73152" marT="0" marB="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32B"/>
                          </a:solidFill>
                        </a:rPr>
                        <a:t>11,846</a:t>
                      </a:r>
                      <a:endParaRPr lang="en-US" sz="1300" dirty="0"/>
                    </a:p>
                  </a:txBody>
                  <a:tcPr marL="73152" marR="73152" marT="0" marB="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1E9A5A"/>
                          </a:solidFill>
                        </a:rPr>
                        <a:t>58.8%</a:t>
                      </a:r>
                      <a:endParaRPr lang="en-US" sz="1300" dirty="0"/>
                    </a:p>
                  </a:txBody>
                  <a:tcPr marL="73152" marR="73152" marT="0" marB="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32B"/>
                          </a:solidFill>
                        </a:rPr>
                        <a:t>$0.0316</a:t>
                      </a:r>
                      <a:endParaRPr lang="en-US" sz="1300" dirty="0"/>
                    </a:p>
                  </a:txBody>
                  <a:tcPr marL="73152" marR="73152" marT="0" marB="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32B"/>
                          </a:solidFill>
                        </a:rPr>
                        <a:t>$0.0138</a:t>
                      </a:r>
                      <a:endParaRPr lang="en-US" sz="1300" dirty="0"/>
                    </a:p>
                  </a:txBody>
                  <a:tcPr marL="73152" marR="73152" marT="0" marB="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FFFFFF"/>
                    </a:solidFill>
                  </a:tcPr>
                </a:tc>
              </a:tr>
              <a:tr h="342900">
                <a:tc>
                  <a:txBody>
                    <a:bodyPr/>
                    <a:lstStyle/>
                    <a:p>
                      <a:pPr algn="l" indent="0" marL="0">
                        <a:buNone/>
                      </a:pPr>
                      <a:r>
                        <a:rPr lang="en-US" sz="1300" dirty="0">
                          <a:solidFill>
                            <a:srgbClr val="14232B"/>
                          </a:solidFill>
                        </a:rPr>
                        <a:t>rollback guidance</a:t>
                      </a:r>
                      <a:endParaRPr lang="en-US" sz="1300" dirty="0"/>
                    </a:p>
                  </a:txBody>
                  <a:tcPr marL="73152" marR="73152" marT="0" marB="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EAF2F3"/>
                    </a:solidFill>
                  </a:tcPr>
                </a:tc>
                <a:tc>
                  <a:txBody>
                    <a:bodyPr/>
                    <a:lstStyle/>
                    <a:p>
                      <a:pPr algn="r" indent="0" marL="0">
                        <a:buNone/>
                      </a:pPr>
                      <a:r>
                        <a:rPr lang="en-US" sz="1300" dirty="0">
                          <a:solidFill>
                            <a:srgbClr val="14232B"/>
                          </a:solidFill>
                        </a:rPr>
                        <a:t>27,125</a:t>
                      </a:r>
                      <a:endParaRPr lang="en-US" sz="1300" dirty="0"/>
                    </a:p>
                  </a:txBody>
                  <a:tcPr marL="73152" marR="73152" marT="0" marB="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EAF2F3"/>
                    </a:solidFill>
                  </a:tcPr>
                </a:tc>
                <a:tc>
                  <a:txBody>
                    <a:bodyPr/>
                    <a:lstStyle/>
                    <a:p>
                      <a:pPr algn="r" indent="0" marL="0">
                        <a:buNone/>
                      </a:pPr>
                      <a:r>
                        <a:rPr lang="en-US" sz="1300" dirty="0">
                          <a:solidFill>
                            <a:srgbClr val="14232B"/>
                          </a:solidFill>
                        </a:rPr>
                        <a:t>10,076</a:t>
                      </a:r>
                      <a:endParaRPr lang="en-US" sz="1300" dirty="0"/>
                    </a:p>
                  </a:txBody>
                  <a:tcPr marL="73152" marR="73152" marT="0" marB="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EAF2F3"/>
                    </a:solidFill>
                  </a:tcPr>
                </a:tc>
                <a:tc>
                  <a:txBody>
                    <a:bodyPr/>
                    <a:lstStyle/>
                    <a:p>
                      <a:pPr algn="r" indent="0" marL="0">
                        <a:buNone/>
                      </a:pPr>
                      <a:r>
                        <a:rPr lang="en-US" sz="1300" b="1" dirty="0">
                          <a:solidFill>
                            <a:srgbClr val="1E9A5A"/>
                          </a:solidFill>
                        </a:rPr>
                        <a:t>62.9%</a:t>
                      </a:r>
                      <a:endParaRPr lang="en-US" sz="1300" dirty="0"/>
                    </a:p>
                  </a:txBody>
                  <a:tcPr marL="73152" marR="73152" marT="0" marB="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EAF2F3"/>
                    </a:solidFill>
                  </a:tcPr>
                </a:tc>
                <a:tc>
                  <a:txBody>
                    <a:bodyPr/>
                    <a:lstStyle/>
                    <a:p>
                      <a:pPr algn="r" indent="0" marL="0">
                        <a:buNone/>
                      </a:pPr>
                      <a:r>
                        <a:rPr lang="en-US" sz="1300" dirty="0">
                          <a:solidFill>
                            <a:srgbClr val="14232B"/>
                          </a:solidFill>
                        </a:rPr>
                        <a:t>$0.0304</a:t>
                      </a:r>
                      <a:endParaRPr lang="en-US" sz="1300" dirty="0"/>
                    </a:p>
                  </a:txBody>
                  <a:tcPr marL="73152" marR="73152" marT="0" marB="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EAF2F3"/>
                    </a:solidFill>
                  </a:tcPr>
                </a:tc>
                <a:tc>
                  <a:txBody>
                    <a:bodyPr/>
                    <a:lstStyle/>
                    <a:p>
                      <a:pPr algn="r" indent="0" marL="0">
                        <a:buNone/>
                      </a:pPr>
                      <a:r>
                        <a:rPr lang="en-US" sz="1300" dirty="0">
                          <a:solidFill>
                            <a:srgbClr val="14232B"/>
                          </a:solidFill>
                        </a:rPr>
                        <a:t>$0.0126</a:t>
                      </a:r>
                      <a:endParaRPr lang="en-US" sz="1300" dirty="0"/>
                    </a:p>
                  </a:txBody>
                  <a:tcPr marL="73152" marR="73152" marT="0" marB="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EAF2F3"/>
                    </a:solidFill>
                  </a:tcPr>
                </a:tc>
              </a:tr>
              <a:tr h="342900">
                <a:tc>
                  <a:txBody>
                    <a:bodyPr/>
                    <a:lstStyle/>
                    <a:p>
                      <a:pPr algn="l" indent="0" marL="0">
                        <a:buNone/>
                      </a:pPr>
                      <a:r>
                        <a:rPr lang="en-US" sz="1300" dirty="0">
                          <a:solidFill>
                            <a:srgbClr val="14232B"/>
                          </a:solidFill>
                        </a:rPr>
                        <a:t>on call brief</a:t>
                      </a:r>
                      <a:endParaRPr lang="en-US" sz="1300" dirty="0"/>
                    </a:p>
                  </a:txBody>
                  <a:tcPr marL="73152" marR="73152" marT="0" marB="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32B"/>
                          </a:solidFill>
                        </a:rPr>
                        <a:t>26,876</a:t>
                      </a:r>
                      <a:endParaRPr lang="en-US" sz="1300" dirty="0"/>
                    </a:p>
                  </a:txBody>
                  <a:tcPr marL="73152" marR="73152" marT="0" marB="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32B"/>
                          </a:solidFill>
                        </a:rPr>
                        <a:t>15,146</a:t>
                      </a:r>
                      <a:endParaRPr lang="en-US" sz="1300" dirty="0"/>
                    </a:p>
                  </a:txBody>
                  <a:tcPr marL="73152" marR="73152" marT="0" marB="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1E9A5A"/>
                          </a:solidFill>
                        </a:rPr>
                        <a:t>43.6%</a:t>
                      </a:r>
                      <a:endParaRPr lang="en-US" sz="1300" dirty="0"/>
                    </a:p>
                  </a:txBody>
                  <a:tcPr marL="73152" marR="73152" marT="0" marB="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32B"/>
                          </a:solidFill>
                        </a:rPr>
                        <a:t>$0.0291</a:t>
                      </a:r>
                      <a:endParaRPr lang="en-US" sz="1300" dirty="0"/>
                    </a:p>
                  </a:txBody>
                  <a:tcPr marL="73152" marR="73152" marT="0" marB="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32B"/>
                          </a:solidFill>
                        </a:rPr>
                        <a:t>$0.0177</a:t>
                      </a:r>
                      <a:endParaRPr lang="en-US" sz="1300" dirty="0"/>
                    </a:p>
                  </a:txBody>
                  <a:tcPr marL="73152" marR="73152" marT="0" marB="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FFFFFF"/>
                    </a:solidFill>
                  </a:tcPr>
                </a:tc>
              </a:tr>
              <a:tr h="342900">
                <a:tc>
                  <a:txBody>
                    <a:bodyPr/>
                    <a:lstStyle/>
                    <a:p>
                      <a:pPr algn="l" indent="0" marL="0">
                        <a:buNone/>
                      </a:pPr>
                      <a:r>
                        <a:rPr lang="en-US" sz="1300" b="1" dirty="0">
                          <a:solidFill>
                            <a:srgbClr val="14232B"/>
                          </a:solidFill>
                        </a:rPr>
                        <a:t>Total</a:t>
                      </a:r>
                      <a:endParaRPr lang="en-US" sz="1300" dirty="0"/>
                    </a:p>
                  </a:txBody>
                  <a:tcPr marL="73152" marR="73152" marT="0" marB="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EAF2F3"/>
                    </a:solidFill>
                  </a:tcPr>
                </a:tc>
                <a:tc>
                  <a:txBody>
                    <a:bodyPr/>
                    <a:lstStyle/>
                    <a:p>
                      <a:pPr algn="r" indent="0" marL="0">
                        <a:buNone/>
                      </a:pPr>
                      <a:r>
                        <a:rPr lang="en-US" sz="1300" b="1" dirty="0">
                          <a:solidFill>
                            <a:srgbClr val="14232B"/>
                          </a:solidFill>
                        </a:rPr>
                        <a:t>129,785</a:t>
                      </a:r>
                      <a:endParaRPr lang="en-US" sz="1300" dirty="0"/>
                    </a:p>
                  </a:txBody>
                  <a:tcPr marL="73152" marR="73152" marT="0" marB="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EAF2F3"/>
                    </a:solidFill>
                  </a:tcPr>
                </a:tc>
                <a:tc>
                  <a:txBody>
                    <a:bodyPr/>
                    <a:lstStyle/>
                    <a:p>
                      <a:pPr algn="r" indent="0" marL="0">
                        <a:buNone/>
                      </a:pPr>
                      <a:r>
                        <a:rPr lang="en-US" sz="1300" b="1" dirty="0">
                          <a:solidFill>
                            <a:srgbClr val="14232B"/>
                          </a:solidFill>
                        </a:rPr>
                        <a:t>65,629</a:t>
                      </a:r>
                      <a:endParaRPr lang="en-US" sz="1300" dirty="0"/>
                    </a:p>
                  </a:txBody>
                  <a:tcPr marL="73152" marR="73152" marT="0" marB="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EAF2F3"/>
                    </a:solidFill>
                  </a:tcPr>
                </a:tc>
                <a:tc>
                  <a:txBody>
                    <a:bodyPr/>
                    <a:lstStyle/>
                    <a:p>
                      <a:pPr algn="r" indent="0" marL="0">
                        <a:buNone/>
                      </a:pPr>
                      <a:r>
                        <a:rPr lang="en-US" sz="1300" b="1" dirty="0">
                          <a:solidFill>
                            <a:srgbClr val="1E9A5A"/>
                          </a:solidFill>
                        </a:rPr>
                        <a:t>49.4%</a:t>
                      </a:r>
                      <a:endParaRPr lang="en-US" sz="1300" dirty="0"/>
                    </a:p>
                  </a:txBody>
                  <a:tcPr marL="73152" marR="73152" marT="0" marB="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EAF2F3"/>
                    </a:solidFill>
                  </a:tcPr>
                </a:tc>
                <a:tc>
                  <a:txBody>
                    <a:bodyPr/>
                    <a:lstStyle/>
                    <a:p>
                      <a:pPr algn="r" indent="0" marL="0">
                        <a:buNone/>
                      </a:pPr>
                      <a:r>
                        <a:rPr lang="en-US" sz="1300" b="1" dirty="0">
                          <a:solidFill>
                            <a:srgbClr val="14232B"/>
                          </a:solidFill>
                        </a:rPr>
                        <a:t>$0.1440</a:t>
                      </a:r>
                      <a:endParaRPr lang="en-US" sz="1300" dirty="0"/>
                    </a:p>
                  </a:txBody>
                  <a:tcPr marL="73152" marR="73152" marT="0" marB="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EAF2F3"/>
                    </a:solidFill>
                  </a:tcPr>
                </a:tc>
                <a:tc>
                  <a:txBody>
                    <a:bodyPr/>
                    <a:lstStyle/>
                    <a:p>
                      <a:pPr algn="r" indent="0" marL="0">
                        <a:buNone/>
                      </a:pPr>
                      <a:r>
                        <a:rPr lang="en-US" sz="1300" b="1" dirty="0">
                          <a:solidFill>
                            <a:srgbClr val="14232B"/>
                          </a:solidFill>
                        </a:rPr>
                        <a:t>$0.0788</a:t>
                      </a:r>
                      <a:endParaRPr lang="en-US" sz="1300" dirty="0"/>
                    </a:p>
                  </a:txBody>
                  <a:tcPr marL="73152" marR="73152" marT="0" marB="0" anchor="ctr">
                    <a:lnL w="6350" cap="flat" cmpd="sng" algn="ctr">
                      <a:solidFill>
                        <a:srgbClr val="D5DFE2"/>
                      </a:solidFill>
                      <a:prstDash val="solid"/>
                      <a:round/>
                      <a:headEnd type="none" w="med" len="med"/>
                      <a:tailEnd type="none" w="med" len="med"/>
                    </a:lnL>
                    <a:lnR w="6350" cap="flat" cmpd="sng" algn="ctr">
                      <a:solidFill>
                        <a:srgbClr val="D5DFE2"/>
                      </a:solidFill>
                      <a:prstDash val="solid"/>
                      <a:round/>
                      <a:headEnd type="none" w="med" len="med"/>
                      <a:tailEnd type="none" w="med" len="med"/>
                    </a:lnR>
                    <a:lnT w="6350" cap="flat" cmpd="sng" algn="ctr">
                      <a:solidFill>
                        <a:srgbClr val="D5DFE2"/>
                      </a:solidFill>
                      <a:prstDash val="solid"/>
                      <a:round/>
                      <a:headEnd type="none" w="med" len="med"/>
                      <a:tailEnd type="none" w="med" len="med"/>
                    </a:lnT>
                    <a:lnB w="6350" cap="flat" cmpd="sng" algn="ctr">
                      <a:solidFill>
                        <a:srgbClr val="D5DFE2"/>
                      </a:solidFill>
                      <a:prstDash val="solid"/>
                      <a:round/>
                      <a:headEnd type="none" w="med" len="med"/>
                      <a:tailEnd type="none" w="med" len="med"/>
                    </a:lnB>
                    <a:solidFill>
                      <a:srgbClr val="EAF2F3"/>
                    </a:solidFill>
                  </a:tcPr>
                </a:tc>
              </a:tr>
            </a:tbl>
          </a:graphicData>
        </a:graphic>
      </p:graphicFrame>
      <p:sp>
        <p:nvSpPr>
          <p:cNvPr id="4" name="Source note"/>
          <p:cNvSpPr txBox="1"/>
          <p:nvPr/>
        </p:nvSpPr>
        <p:spPr>
          <a:xfrm>
            <a:off x="457200" y="4480560"/>
            <a:ext cx="8229600" cy="228600"/>
          </a:xfrm>
          <a:prstGeom prst="rect">
            <a:avLst/>
          </a:prstGeom>
          <a:noFill/>
          <a:ln/>
        </p:spPr>
        <p:txBody>
          <a:bodyPr wrap="square" lIns="0" tIns="0" rIns="0" bIns="0" rtlCol="0" anchor="ctr"/>
          <a:lstStyle/>
          <a:p>
            <a:pPr indent="0" marL="0">
              <a:buNone/>
            </a:pPr>
            <a:r>
              <a:rPr lang="en-US" sz="1000" dirty="0">
                <a:solidFill>
                  <a:schemeClr val="accent5"/>
                </a:solidFill>
              </a:rPr>
              <a:t>Source: Token Gate benchmark 2026-10-21, claude-haiku-4-5, proxy mode, 6 tasks x 1 run</a:t>
            </a:r>
            <a:endParaRPr lang="en-US" sz="10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914400"/>
          </a:xfrm>
          <a:prstGeom prst="rect">
            <a:avLst/>
          </a:prstGeom>
          <a:noFill/>
          <a:ln/>
        </p:spPr>
        <p:txBody>
          <a:bodyPr wrap="square" lIns="0" tIns="0" rIns="0" bIns="0" rtlCol="0" anchor="ctr"/>
          <a:lstStyle/>
          <a:p>
            <a:pPr indent="0" marL="0">
              <a:buNone/>
            </a:pPr>
            <a:r>
              <a:rPr lang="en-US" sz="2800" b="1" dirty="0">
                <a:solidFill>
                  <a:schemeClr val="tx2"/>
                </a:solidFill>
              </a:rPr>
              <a:t>At enterprise scale the savings add up quickly</a:t>
            </a:r>
            <a:endParaRPr lang="en-US" sz="2800" dirty="0"/>
          </a:p>
        </p:txBody>
      </p:sp>
      <p:graphicFrame>
        <p:nvGraphicFramePr>
          <p:cNvPr id="3" name="Chart 0" descr=""/>
          <p:cNvGraphicFramePr/>
          <p:nvPr/>
        </p:nvGraphicFramePr>
        <p:xfrm>
          <a:off x="457200" y="1188720"/>
          <a:ext cx="4754880" cy="3200400"/>
        </p:xfrm>
        <a:graphic xmlns:a="http://schemas.openxmlformats.org/drawingml/2006/main">
          <a:graphicData uri="http://schemas.openxmlformats.org/drawingml/2006/chart">
            <c:chart xmlns:c="http://schemas.openxmlformats.org/drawingml/2006/chart" r:id="rId1"/>
          </a:graphicData>
        </a:graphic>
      </p:graphicFrame>
      <p:sp>
        <p:nvSpPr>
          <p:cNvPr id="4" name="Formula card"/>
          <p:cNvSpPr/>
          <p:nvPr/>
        </p:nvSpPr>
        <p:spPr>
          <a:xfrm>
            <a:off x="5486400" y="1234440"/>
            <a:ext cx="3200400" cy="3108960"/>
          </a:xfrm>
          <a:prstGeom prst="roundRect">
            <a:avLst>
              <a:gd name="adj" fmla="val 2353"/>
            </a:avLst>
          </a:prstGeom>
          <a:solidFill>
            <a:schemeClr val="bg2"/>
          </a:solidFill>
          <a:ln w="12700">
            <a:solidFill>
              <a:schemeClr val="bg2"/>
            </a:solidFill>
            <a:prstDash val="solid"/>
          </a:ln>
        </p:spPr>
      </p:sp>
      <p:sp>
        <p:nvSpPr>
          <p:cNvPr id="5" name="Text 2"/>
          <p:cNvSpPr txBox="1"/>
          <p:nvPr/>
        </p:nvSpPr>
        <p:spPr>
          <a:xfrm>
            <a:off x="5669280" y="1325880"/>
            <a:ext cx="2834640" cy="365760"/>
          </a:xfrm>
          <a:prstGeom prst="rect">
            <a:avLst/>
          </a:prstGeom>
          <a:noFill/>
          <a:ln/>
        </p:spPr>
        <p:txBody>
          <a:bodyPr wrap="square" lIns="0" tIns="0" rIns="0" bIns="0" rtlCol="0" anchor="ctr"/>
          <a:lstStyle/>
          <a:p>
            <a:pPr indent="0" marL="0">
              <a:buNone/>
            </a:pPr>
            <a:r>
              <a:rPr lang="en-US" sz="1600" b="1" dirty="0">
                <a:solidFill>
                  <a:schemeClr val="tx2"/>
                </a:solidFill>
              </a:rPr>
              <a:t>How the estimate works</a:t>
            </a:r>
            <a:endParaRPr lang="en-US" sz="1600" dirty="0"/>
          </a:p>
        </p:txBody>
      </p:sp>
      <p:sp>
        <p:nvSpPr>
          <p:cNvPr id="6" name="Formula list"/>
          <p:cNvSpPr txBox="1"/>
          <p:nvPr/>
        </p:nvSpPr>
        <p:spPr>
          <a:xfrm>
            <a:off x="5669280" y="1737360"/>
            <a:ext cx="2834640" cy="13716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$0.0109 saved per request</a:t>
            </a:r>
            <a:endParaRPr lang="en-US" sz="1400" dirty="0"/>
          </a:p>
          <a:p>
            <a:pPr marL="342900" indent="-342900">
              <a:spcAft>
                <a:spcPts val="400"/>
              </a:spcAft>
              <a:buSzPct val="100000"/>
              <a:buChar char="•"/>
            </a:pPr>
            <a:r>
              <a:rPr lang="en-US" sz="1400" dirty="0">
                <a:solidFill>
                  <a:schemeClr val="tx1"/>
                </a:solidFill>
              </a:rPr>
              <a:t>x developers</a:t>
            </a:r>
            <a:endParaRPr lang="en-US" sz="1400" dirty="0"/>
          </a:p>
          <a:p>
            <a:pPr marL="342900" indent="-342900">
              <a:spcAft>
                <a:spcPts val="400"/>
              </a:spcAft>
              <a:buSzPct val="100000"/>
              <a:buChar char="•"/>
            </a:pPr>
            <a:r>
              <a:rPr lang="en-US" sz="1400" dirty="0">
                <a:solidFill>
                  <a:schemeClr val="tx1"/>
                </a:solidFill>
              </a:rPr>
              <a:t>x 40 requests per day</a:t>
            </a:r>
            <a:endParaRPr lang="en-US" sz="1400" dirty="0"/>
          </a:p>
          <a:p>
            <a:pPr marL="342900" indent="-342900">
              <a:spcAft>
                <a:spcPts val="400"/>
              </a:spcAft>
              <a:buSzPct val="100000"/>
              <a:buChar char="•"/>
            </a:pPr>
            <a:r>
              <a:rPr lang="en-US" sz="1400" dirty="0">
                <a:solidFill>
                  <a:schemeClr val="tx1"/>
                </a:solidFill>
              </a:rPr>
              <a:t>x 22 working days</a:t>
            </a:r>
            <a:endParaRPr lang="en-US" sz="1400" dirty="0"/>
          </a:p>
        </p:txBody>
      </p:sp>
      <p:sp>
        <p:nvSpPr>
          <p:cNvPr id="7" name="Annual figure"/>
          <p:cNvSpPr txBox="1"/>
          <p:nvPr/>
        </p:nvSpPr>
        <p:spPr>
          <a:xfrm>
            <a:off x="5669280" y="3200400"/>
            <a:ext cx="2834640" cy="1005840"/>
          </a:xfrm>
          <a:prstGeom prst="rect">
            <a:avLst/>
          </a:prstGeom>
          <a:noFill/>
          <a:ln/>
        </p:spPr>
        <p:txBody>
          <a:bodyPr wrap="square" lIns="0" tIns="0" rIns="0" bIns="0" rtlCol="0" anchor="t"/>
          <a:lstStyle/>
          <a:p>
            <a:pPr indent="0" marL="0">
              <a:buNone/>
            </a:pPr>
            <a:r>
              <a:rPr lang="en-US" sz="1400" b="1" dirty="0">
                <a:solidFill>
                  <a:schemeClr val="accent1"/>
                </a:solidFill>
              </a:rPr>
              <a:t>$5,736 a year for 50 developers, $114,724 for 1,000.</a:t>
            </a:r>
            <a:endParaRPr lang="en-US" sz="1400" dirty="0"/>
          </a:p>
        </p:txBody>
      </p:sp>
      <p:sp>
        <p:nvSpPr>
          <p:cNvPr id="8" name="Source note"/>
          <p:cNvSpPr txBox="1"/>
          <p:nvPr/>
        </p:nvSpPr>
        <p:spPr>
          <a:xfrm>
            <a:off x="457200" y="4480560"/>
            <a:ext cx="8229600" cy="228600"/>
          </a:xfrm>
          <a:prstGeom prst="rect">
            <a:avLst/>
          </a:prstGeom>
          <a:noFill/>
          <a:ln/>
        </p:spPr>
        <p:txBody>
          <a:bodyPr wrap="square" lIns="0" tIns="0" rIns="0" bIns="0" rtlCol="0" anchor="ctr"/>
          <a:lstStyle/>
          <a:p>
            <a:pPr indent="0" marL="0">
              <a:buNone/>
            </a:pPr>
            <a:r>
              <a:rPr lang="en-US" sz="1000" dirty="0">
                <a:solidFill>
                  <a:schemeClr val="accent5"/>
                </a:solidFill>
              </a:rPr>
              <a:t>Source: Token Gate benchmark 2026-10-21, claude-haiku-4-5, proxy mode, 6 tasks x 1 run</a:t>
            </a:r>
            <a:endParaRPr lang="en-US" sz="10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914400"/>
          </a:xfrm>
          <a:prstGeom prst="rect">
            <a:avLst/>
          </a:prstGeom>
          <a:noFill/>
          <a:ln/>
        </p:spPr>
        <p:txBody>
          <a:bodyPr wrap="square" lIns="0" tIns="0" rIns="0" bIns="0" rtlCol="0" anchor="ctr"/>
          <a:lstStyle/>
          <a:p>
            <a:pPr indent="0" marL="0">
              <a:buNone/>
            </a:pPr>
            <a:r>
              <a:rPr lang="en-US" sz="2800" b="1" dirty="0">
                <a:solidFill>
                  <a:schemeClr val="tx2"/>
                </a:solidFill>
              </a:rPr>
              <a:t>Caveat: output tokens cost more and are not compressed</a:t>
            </a:r>
            <a:endParaRPr lang="en-US" sz="2800" dirty="0"/>
          </a:p>
        </p:txBody>
      </p:sp>
      <p:graphicFrame>
        <p:nvGraphicFramePr>
          <p:cNvPr id="3" name="Chart 0" descr=""/>
          <p:cNvGraphicFramePr/>
          <p:nvPr/>
        </p:nvGraphicFramePr>
        <p:xfrm>
          <a:off x="457200" y="1188720"/>
          <a:ext cx="4937760" cy="3200400"/>
        </p:xfrm>
        <a:graphic xmlns:a="http://schemas.openxmlformats.org/drawingml/2006/main">
          <a:graphicData uri="http://schemas.openxmlformats.org/drawingml/2006/chart">
            <c:chart xmlns:c="http://schemas.openxmlformats.org/drawingml/2006/chart" r:id="rId1"/>
          </a:graphicData>
        </a:graphic>
      </p:graphicFrame>
      <p:sp>
        <p:nvSpPr>
          <p:cNvPr id="4" name="Caveat card"/>
          <p:cNvSpPr/>
          <p:nvPr/>
        </p:nvSpPr>
        <p:spPr>
          <a:xfrm>
            <a:off x="5623560" y="1234440"/>
            <a:ext cx="3063240" cy="3108960"/>
          </a:xfrm>
          <a:prstGeom prst="roundRect">
            <a:avLst>
              <a:gd name="adj" fmla="val 2388"/>
            </a:avLst>
          </a:prstGeom>
          <a:solidFill>
            <a:schemeClr val="bg2"/>
          </a:solidFill>
          <a:ln w="12700">
            <a:solidFill>
              <a:schemeClr val="bg2"/>
            </a:solidFill>
            <a:prstDash val="solid"/>
          </a:ln>
        </p:spPr>
      </p:sp>
      <p:sp>
        <p:nvSpPr>
          <p:cNvPr id="5" name="Caveat text"/>
          <p:cNvSpPr txBox="1"/>
          <p:nvPr/>
        </p:nvSpPr>
        <p:spPr>
          <a:xfrm>
            <a:off x="5760720" y="1325880"/>
            <a:ext cx="2788920" cy="2926080"/>
          </a:xfrm>
          <a:prstGeom prst="rect">
            <a:avLst/>
          </a:prstGeom>
          <a:noFill/>
          <a:ln/>
        </p:spPr>
        <p:txBody>
          <a:bodyPr wrap="square" lIns="0" tIns="0" rIns="0" bIns="0" rtlCol="0" anchor="t"/>
          <a:lstStyle/>
          <a:p>
            <a:pPr indent="0" marL="0">
              <a:spcAft>
                <a:spcPts val="800"/>
              </a:spcAft>
              <a:buNone/>
            </a:pPr>
            <a:r>
              <a:rPr lang="en-US" sz="1400" b="1" dirty="0">
                <a:solidFill>
                  <a:schemeClr val="tx1"/>
                </a:solidFill>
              </a:rPr>
              <a:t>Input only. </a:t>
            </a:r>
            <a:pPr indent="0" marL="0">
              <a:spcAft>
                <a:spcPts val="800"/>
              </a:spcAft>
              <a:buNone/>
            </a:pPr>
            <a:r>
              <a:rPr lang="en-US" sz="1400" dirty="0">
                <a:solidFill>
                  <a:schemeClr val="tx1"/>
                </a:solidFill>
              </a:rPr>
              <a:t>The gateway compresses what you send, not what the model writes back.</a:t>
            </a:r>
            <a:endParaRPr lang="en-US" sz="1400" dirty="0"/>
          </a:p>
          <a:p>
            <a:pPr indent="0" marL="0">
              <a:spcAft>
                <a:spcPts val="800"/>
              </a:spcAft>
              <a:buNone/>
            </a:pPr>
            <a:r>
              <a:rPr lang="en-US" sz="1400" b="1" dirty="0">
                <a:solidFill>
                  <a:schemeClr val="tx1"/>
                </a:solidFill>
              </a:rPr>
              <a:t>Output costs more. </a:t>
            </a:r>
            <a:pPr indent="0" marL="0">
              <a:spcAft>
                <a:spcPts val="800"/>
              </a:spcAft>
              <a:buNone/>
            </a:pPr>
            <a:r>
              <a:rPr lang="en-US" sz="1400" dirty="0">
                <a:solidFill>
                  <a:schemeClr val="tx1"/>
                </a:solidFill>
              </a:rPr>
              <a:t>About 5x input on Haiku 4.5 and around 8x on some Gemini models.</a:t>
            </a:r>
            <a:endParaRPr lang="en-US" sz="1400" dirty="0"/>
          </a:p>
          <a:p>
            <a:pPr indent="0" marL="0">
              <a:spcAft>
                <a:spcPts val="800"/>
              </a:spcAft>
              <a:buNone/>
            </a:pPr>
            <a:r>
              <a:rPr lang="en-US" sz="1400" b="1" dirty="0">
                <a:solidFill>
                  <a:schemeClr val="tx1"/>
                </a:solidFill>
              </a:rPr>
              <a:t>Verbose models dilute savings. </a:t>
            </a:r>
            <a:pPr indent="0" marL="0">
              <a:spcAft>
                <a:spcPts val="800"/>
              </a:spcAft>
              <a:buNone/>
            </a:pPr>
            <a:r>
              <a:rPr lang="en-US" sz="1400" dirty="0">
                <a:solidFill>
                  <a:schemeClr val="tx1"/>
                </a:solidFill>
              </a:rPr>
              <a:t>Long answers or reasoning tokens make output a larger share of the bill.</a:t>
            </a:r>
            <a:endParaRPr lang="en-US" sz="1400" dirty="0"/>
          </a:p>
        </p:txBody>
      </p:sp>
      <p:sp>
        <p:nvSpPr>
          <p:cNvPr id="6" name="Source note"/>
          <p:cNvSpPr txBox="1"/>
          <p:nvPr/>
        </p:nvSpPr>
        <p:spPr>
          <a:xfrm>
            <a:off x="457200" y="4480560"/>
            <a:ext cx="8229600" cy="228600"/>
          </a:xfrm>
          <a:prstGeom prst="rect">
            <a:avLst/>
          </a:prstGeom>
          <a:noFill/>
          <a:ln/>
        </p:spPr>
        <p:txBody>
          <a:bodyPr wrap="square" lIns="0" tIns="0" rIns="0" bIns="0" rtlCol="0" anchor="ctr"/>
          <a:lstStyle/>
          <a:p>
            <a:pPr indent="0" marL="0">
              <a:buNone/>
            </a:pPr>
            <a:r>
              <a:rPr lang="en-US" sz="1000" dirty="0">
                <a:solidFill>
                  <a:schemeClr val="accent5"/>
                </a:solidFill>
              </a:rPr>
              <a:t>Source: Token Gate benchmark 2026-10-21, claude-haiku-4-5, proxy mode, 6 tasks x 1 run</a:t>
            </a:r>
            <a:endParaRPr lang="en-US" sz="10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914400"/>
          </a:xfrm>
          <a:prstGeom prst="rect">
            <a:avLst/>
          </a:prstGeom>
          <a:noFill/>
          <a:ln/>
        </p:spPr>
        <p:txBody>
          <a:bodyPr wrap="square" lIns="0" tIns="0" rIns="0" bIns="0" rtlCol="0" anchor="ctr"/>
          <a:lstStyle/>
          <a:p>
            <a:pPr indent="0" marL="0">
              <a:buNone/>
            </a:pPr>
            <a:r>
              <a:rPr lang="en-US" sz="2800" b="1" dirty="0">
                <a:solidFill>
                  <a:schemeClr val="tx2"/>
                </a:solidFill>
              </a:rPr>
              <a:t>What to validate before an org-wide rollout</a:t>
            </a:r>
            <a:endParaRPr lang="en-US" sz="2800" dirty="0"/>
          </a:p>
        </p:txBody>
      </p:sp>
      <p:sp>
        <p:nvSpPr>
          <p:cNvPr id="3" name="What the benchmark is card"/>
          <p:cNvSpPr/>
          <p:nvPr/>
        </p:nvSpPr>
        <p:spPr>
          <a:xfrm>
            <a:off x="457200" y="1234440"/>
            <a:ext cx="3977640" cy="3108960"/>
          </a:xfrm>
          <a:prstGeom prst="roundRect">
            <a:avLst>
              <a:gd name="adj" fmla="val 2353"/>
            </a:avLst>
          </a:prstGeom>
          <a:solidFill>
            <a:schemeClr val="bg2"/>
          </a:solidFill>
          <a:ln w="12700">
            <a:solidFill>
              <a:schemeClr val="bg2"/>
            </a:solidFill>
            <a:prstDash val="solid"/>
          </a:ln>
        </p:spPr>
      </p:sp>
      <p:sp>
        <p:nvSpPr>
          <p:cNvPr id="4" name="Text 2"/>
          <p:cNvSpPr txBox="1"/>
          <p:nvPr/>
        </p:nvSpPr>
        <p:spPr>
          <a:xfrm>
            <a:off x="640080" y="1325880"/>
            <a:ext cx="3611880" cy="365760"/>
          </a:xfrm>
          <a:prstGeom prst="rect">
            <a:avLst/>
          </a:prstGeom>
          <a:noFill/>
          <a:ln/>
        </p:spPr>
        <p:txBody>
          <a:bodyPr wrap="square" lIns="0" tIns="0" rIns="0" bIns="0" rtlCol="0" anchor="ctr"/>
          <a:lstStyle/>
          <a:p>
            <a:pPr indent="0" marL="0">
              <a:buNone/>
            </a:pPr>
            <a:r>
              <a:rPr lang="en-US" sz="1600" b="1" dirty="0">
                <a:solidFill>
                  <a:schemeClr val="tx2"/>
                </a:solidFill>
              </a:rPr>
              <a:t>What the benchmark is</a:t>
            </a:r>
            <a:endParaRPr lang="en-US" sz="1600" dirty="0"/>
          </a:p>
        </p:txBody>
      </p:sp>
      <p:sp>
        <p:nvSpPr>
          <p:cNvPr id="5" name="What the benchmark is list"/>
          <p:cNvSpPr txBox="1"/>
          <p:nvPr/>
        </p:nvSpPr>
        <p:spPr>
          <a:xfrm>
            <a:off x="640080" y="1737360"/>
            <a:ext cx="3611880" cy="2514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Mock data: 88 KB of synthetic logs, issues and runbooks, not production traffic.</a:t>
            </a:r>
            <a:endParaRPr lang="en-US" sz="1400" dirty="0"/>
          </a:p>
          <a:p>
            <a:pPr marL="342900" indent="-342900">
              <a:spcAft>
                <a:spcPts val="600"/>
              </a:spcAft>
              <a:buSzPct val="100000"/>
              <a:buChar char="•"/>
            </a:pPr>
            <a:r>
              <a:rPr lang="en-US" sz="1400" dirty="0">
                <a:solidFill>
                  <a:schemeClr val="tx1"/>
                </a:solidFill>
              </a:rPr>
              <a:t>Small sample: 6 tasks, 1 run each; results will vary run to run.</a:t>
            </a:r>
            <a:endParaRPr lang="en-US" sz="1400" dirty="0"/>
          </a:p>
          <a:p>
            <a:pPr marL="342900" indent="-342900">
              <a:spcAft>
                <a:spcPts val="600"/>
              </a:spcAft>
              <a:buSzPct val="100000"/>
              <a:buChar char="•"/>
            </a:pPr>
            <a:r>
              <a:rPr lang="en-US" sz="1400" dirty="0">
                <a:solidFill>
                  <a:schemeClr val="tx1"/>
                </a:solidFill>
              </a:rPr>
              <a:t>Savings vary by payload: 32% to 63% across tasks.</a:t>
            </a:r>
            <a:endParaRPr lang="en-US" sz="1400" dirty="0"/>
          </a:p>
        </p:txBody>
      </p:sp>
      <p:sp>
        <p:nvSpPr>
          <p:cNvPr id="6" name="What to check next card"/>
          <p:cNvSpPr/>
          <p:nvPr/>
        </p:nvSpPr>
        <p:spPr>
          <a:xfrm>
            <a:off x="4709160" y="1234440"/>
            <a:ext cx="3977640" cy="3108960"/>
          </a:xfrm>
          <a:prstGeom prst="roundRect">
            <a:avLst>
              <a:gd name="adj" fmla="val 2353"/>
            </a:avLst>
          </a:prstGeom>
          <a:solidFill>
            <a:schemeClr val="bg2"/>
          </a:solidFill>
          <a:ln w="12700">
            <a:solidFill>
              <a:schemeClr val="bg2"/>
            </a:solidFill>
            <a:prstDash val="solid"/>
          </a:ln>
        </p:spPr>
      </p:sp>
      <p:sp>
        <p:nvSpPr>
          <p:cNvPr id="7" name="Text 5"/>
          <p:cNvSpPr txBox="1"/>
          <p:nvPr/>
        </p:nvSpPr>
        <p:spPr>
          <a:xfrm>
            <a:off x="4892040" y="1325880"/>
            <a:ext cx="3611880" cy="365760"/>
          </a:xfrm>
          <a:prstGeom prst="rect">
            <a:avLst/>
          </a:prstGeom>
          <a:noFill/>
          <a:ln/>
        </p:spPr>
        <p:txBody>
          <a:bodyPr wrap="square" lIns="0" tIns="0" rIns="0" bIns="0" rtlCol="0" anchor="ctr"/>
          <a:lstStyle/>
          <a:p>
            <a:pPr indent="0" marL="0">
              <a:buNone/>
            </a:pPr>
            <a:r>
              <a:rPr lang="en-US" sz="1600" b="1" dirty="0">
                <a:solidFill>
                  <a:schemeClr val="accent2"/>
                </a:solidFill>
              </a:rPr>
              <a:t>What to check next</a:t>
            </a:r>
            <a:endParaRPr lang="en-US" sz="1600" dirty="0"/>
          </a:p>
        </p:txBody>
      </p:sp>
      <p:sp>
        <p:nvSpPr>
          <p:cNvPr id="8" name="What to check next list"/>
          <p:cNvSpPr txBox="1"/>
          <p:nvPr/>
        </p:nvSpPr>
        <p:spPr>
          <a:xfrm>
            <a:off x="4892040" y="1737360"/>
            <a:ext cx="3611880" cy="2514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Answer quality: conclusions looked consistent, but some counts differed (error-summary reported 5 errors for search-gateway instead of 6). Check accuracy on your own tasks.</a:t>
            </a:r>
            <a:endParaRPr lang="en-US" sz="1400" dirty="0"/>
          </a:p>
          <a:p>
            <a:pPr marL="342900" indent="-342900">
              <a:spcAft>
                <a:spcPts val="600"/>
              </a:spcAft>
              <a:buSzPct val="100000"/>
              <a:buChar char="•"/>
            </a:pPr>
            <a:r>
              <a:rPr lang="en-US" sz="1400" dirty="0">
                <a:solidFill>
                  <a:schemeClr val="tx1"/>
                </a:solidFill>
              </a:rPr>
              <a:t>Prompt caching: cached input is already cheaper, which would shrink the saving.</a:t>
            </a:r>
            <a:endParaRPr lang="en-US" sz="1400" dirty="0"/>
          </a:p>
          <a:p>
            <a:pPr marL="342900" indent="-342900">
              <a:spcAft>
                <a:spcPts val="600"/>
              </a:spcAft>
              <a:buSzPct val="100000"/>
              <a:buChar char="•"/>
            </a:pPr>
            <a:r>
              <a:rPr lang="en-US" sz="1400" dirty="0">
                <a:solidFill>
                  <a:schemeClr val="tx1"/>
                </a:solidFill>
              </a:rPr>
              <a:t>Latency and gateway operations were not measured.</a:t>
            </a:r>
            <a:endParaRPr lang="en-US" sz="14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914400"/>
          </a:xfrm>
          <a:prstGeom prst="rect">
            <a:avLst/>
          </a:prstGeom>
          <a:noFill/>
          <a:ln/>
        </p:spPr>
        <p:txBody>
          <a:bodyPr wrap="square" lIns="0" tIns="0" rIns="0" bIns="0" rtlCol="0" anchor="ctr"/>
          <a:lstStyle/>
          <a:p>
            <a:pPr indent="0" marL="0">
              <a:buNone/>
            </a:pPr>
            <a:r>
              <a:rPr lang="en-US" sz="2800" b="1" dirty="0">
                <a:solidFill>
                  <a:schemeClr val="bg1"/>
                </a:solidFill>
              </a:rPr>
              <a:t>Recommended path: pilot, measure, then roll out</a:t>
            </a:r>
            <a:endParaRPr lang="en-US" sz="2800" dirty="0"/>
          </a:p>
        </p:txBody>
      </p:sp>
      <p:sp>
        <p:nvSpPr>
          <p:cNvPr id="3" name="Next step 1 card"/>
          <p:cNvSpPr/>
          <p:nvPr/>
        </p:nvSpPr>
        <p:spPr>
          <a:xfrm>
            <a:off x="457200" y="1371600"/>
            <a:ext cx="2560320" cy="2743200"/>
          </a:xfrm>
          <a:prstGeom prst="roundRect">
            <a:avLst>
              <a:gd name="adj" fmla="val 2857"/>
            </a:avLst>
          </a:prstGeom>
          <a:solidFill>
            <a:schemeClr val="accent3"/>
          </a:solidFill>
          <a:ln w="12700">
            <a:solidFill>
              <a:schemeClr val="accent3"/>
            </a:solidFill>
            <a:prstDash val="solid"/>
          </a:ln>
        </p:spPr>
      </p:sp>
      <p:sp>
        <p:nvSpPr>
          <p:cNvPr id="4" name="Next step 1 badge"/>
          <p:cNvSpPr/>
          <p:nvPr/>
        </p:nvSpPr>
        <p:spPr>
          <a:xfrm>
            <a:off x="640080" y="1554480"/>
            <a:ext cx="502920" cy="502920"/>
          </a:xfrm>
          <a:prstGeom prst="ellipse">
            <a:avLst/>
          </a:prstGeom>
          <a:solidFill>
            <a:schemeClr val="bg1"/>
          </a:solidFill>
          <a:ln w="12700">
            <a:solidFill>
              <a:schemeClr val="bg1"/>
            </a:solidFill>
            <a:prstDash val="solid"/>
          </a:ln>
        </p:spPr>
      </p:sp>
      <p:sp>
        <p:nvSpPr>
          <p:cNvPr id="5" name="Text 3"/>
          <p:cNvSpPr txBox="1"/>
          <p:nvPr/>
        </p:nvSpPr>
        <p:spPr>
          <a:xfrm>
            <a:off x="640080" y="1554480"/>
            <a:ext cx="502920" cy="502920"/>
          </a:xfrm>
          <a:prstGeom prst="rect">
            <a:avLst/>
          </a:prstGeom>
          <a:noFill/>
          <a:ln/>
        </p:spPr>
        <p:txBody>
          <a:bodyPr wrap="square" lIns="0" tIns="0" rIns="0" bIns="0" rtlCol="0" anchor="ctr"/>
          <a:lstStyle/>
          <a:p>
            <a:pPr algn="ctr" indent="0" marL="0">
              <a:buNone/>
            </a:pPr>
            <a:r>
              <a:rPr lang="en-US" sz="1800" b="1" dirty="0">
                <a:solidFill>
                  <a:schemeClr val="tx2"/>
                </a:solidFill>
              </a:rPr>
              <a:t>1</a:t>
            </a:r>
            <a:endParaRPr lang="en-US" sz="1800" dirty="0"/>
          </a:p>
        </p:txBody>
      </p:sp>
      <p:sp>
        <p:nvSpPr>
          <p:cNvPr id="6" name="Text 4"/>
          <p:cNvSpPr txBox="1"/>
          <p:nvPr/>
        </p:nvSpPr>
        <p:spPr>
          <a:xfrm>
            <a:off x="640080" y="2194560"/>
            <a:ext cx="2194560" cy="411480"/>
          </a:xfrm>
          <a:prstGeom prst="rect">
            <a:avLst/>
          </a:prstGeom>
          <a:noFill/>
          <a:ln/>
        </p:spPr>
        <p:txBody>
          <a:bodyPr wrap="square" lIns="0" tIns="0" rIns="0" bIns="0" rtlCol="0" anchor="ctr"/>
          <a:lstStyle/>
          <a:p>
            <a:pPr indent="0" marL="0">
              <a:buNone/>
            </a:pPr>
            <a:r>
              <a:rPr lang="en-US" sz="2000" b="1" dirty="0">
                <a:solidFill>
                  <a:schemeClr val="bg1"/>
                </a:solidFill>
              </a:rPr>
              <a:t>Pilot</a:t>
            </a:r>
            <a:endParaRPr lang="en-US" sz="2000" dirty="0"/>
          </a:p>
        </p:txBody>
      </p:sp>
      <p:sp>
        <p:nvSpPr>
          <p:cNvPr id="7" name="Text 5"/>
          <p:cNvSpPr txBox="1"/>
          <p:nvPr/>
        </p:nvSpPr>
        <p:spPr>
          <a:xfrm>
            <a:off x="640080" y="2651760"/>
            <a:ext cx="2194560" cy="1280160"/>
          </a:xfrm>
          <a:prstGeom prst="rect">
            <a:avLst/>
          </a:prstGeom>
          <a:noFill/>
          <a:ln/>
        </p:spPr>
        <p:txBody>
          <a:bodyPr wrap="square" lIns="0" tIns="0" rIns="0" bIns="0" rtlCol="0" anchor="t"/>
          <a:lstStyle/>
          <a:p>
            <a:pPr indent="0" marL="0">
              <a:buNone/>
            </a:pPr>
            <a:r>
              <a:rPr lang="en-US" sz="1400" dirty="0">
                <a:solidFill>
                  <a:schemeClr val="bg1"/>
                </a:solidFill>
              </a:rPr>
              <a:t>Route one real agent workflow through the Token Gate gateway for two weeks.</a:t>
            </a:r>
            <a:endParaRPr lang="en-US" sz="1400" dirty="0"/>
          </a:p>
        </p:txBody>
      </p:sp>
      <p:sp>
        <p:nvSpPr>
          <p:cNvPr id="8" name="Next step 2 card"/>
          <p:cNvSpPr/>
          <p:nvPr/>
        </p:nvSpPr>
        <p:spPr>
          <a:xfrm>
            <a:off x="3291840" y="1371600"/>
            <a:ext cx="2560320" cy="2743200"/>
          </a:xfrm>
          <a:prstGeom prst="roundRect">
            <a:avLst>
              <a:gd name="adj" fmla="val 2857"/>
            </a:avLst>
          </a:prstGeom>
          <a:solidFill>
            <a:schemeClr val="accent3"/>
          </a:solidFill>
          <a:ln w="12700">
            <a:solidFill>
              <a:schemeClr val="accent3"/>
            </a:solidFill>
            <a:prstDash val="solid"/>
          </a:ln>
        </p:spPr>
      </p:sp>
      <p:sp>
        <p:nvSpPr>
          <p:cNvPr id="9" name="Next step 2 badge"/>
          <p:cNvSpPr/>
          <p:nvPr/>
        </p:nvSpPr>
        <p:spPr>
          <a:xfrm>
            <a:off x="3474720" y="1554480"/>
            <a:ext cx="502920" cy="502920"/>
          </a:xfrm>
          <a:prstGeom prst="ellipse">
            <a:avLst/>
          </a:prstGeom>
          <a:solidFill>
            <a:schemeClr val="bg1"/>
          </a:solidFill>
          <a:ln w="12700">
            <a:solidFill>
              <a:schemeClr val="bg1"/>
            </a:solidFill>
            <a:prstDash val="solid"/>
          </a:ln>
        </p:spPr>
      </p:sp>
      <p:sp>
        <p:nvSpPr>
          <p:cNvPr id="10" name="Text 8"/>
          <p:cNvSpPr txBox="1"/>
          <p:nvPr/>
        </p:nvSpPr>
        <p:spPr>
          <a:xfrm>
            <a:off x="3474720" y="1554480"/>
            <a:ext cx="502920" cy="502920"/>
          </a:xfrm>
          <a:prstGeom prst="rect">
            <a:avLst/>
          </a:prstGeom>
          <a:noFill/>
          <a:ln/>
        </p:spPr>
        <p:txBody>
          <a:bodyPr wrap="square" lIns="0" tIns="0" rIns="0" bIns="0" rtlCol="0" anchor="ctr"/>
          <a:lstStyle/>
          <a:p>
            <a:pPr algn="ctr" indent="0" marL="0">
              <a:buNone/>
            </a:pPr>
            <a:r>
              <a:rPr lang="en-US" sz="1800" b="1" dirty="0">
                <a:solidFill>
                  <a:schemeClr val="tx2"/>
                </a:solidFill>
              </a:rPr>
              <a:t>2</a:t>
            </a:r>
            <a:endParaRPr lang="en-US" sz="1800" dirty="0"/>
          </a:p>
        </p:txBody>
      </p:sp>
      <p:sp>
        <p:nvSpPr>
          <p:cNvPr id="11" name="Text 9"/>
          <p:cNvSpPr txBox="1"/>
          <p:nvPr/>
        </p:nvSpPr>
        <p:spPr>
          <a:xfrm>
            <a:off x="3474720" y="2194560"/>
            <a:ext cx="2194560" cy="411480"/>
          </a:xfrm>
          <a:prstGeom prst="rect">
            <a:avLst/>
          </a:prstGeom>
          <a:noFill/>
          <a:ln/>
        </p:spPr>
        <p:txBody>
          <a:bodyPr wrap="square" lIns="0" tIns="0" rIns="0" bIns="0" rtlCol="0" anchor="ctr"/>
          <a:lstStyle/>
          <a:p>
            <a:pPr indent="0" marL="0">
              <a:buNone/>
            </a:pPr>
            <a:r>
              <a:rPr lang="en-US" sz="2000" b="1" dirty="0">
                <a:solidFill>
                  <a:schemeClr val="bg1"/>
                </a:solidFill>
              </a:rPr>
              <a:t>Measure</a:t>
            </a:r>
            <a:endParaRPr lang="en-US" sz="2000" dirty="0"/>
          </a:p>
        </p:txBody>
      </p:sp>
      <p:sp>
        <p:nvSpPr>
          <p:cNvPr id="12" name="Text 10"/>
          <p:cNvSpPr txBox="1"/>
          <p:nvPr/>
        </p:nvSpPr>
        <p:spPr>
          <a:xfrm>
            <a:off x="3474720" y="2651760"/>
            <a:ext cx="2194560" cy="1280160"/>
          </a:xfrm>
          <a:prstGeom prst="rect">
            <a:avLst/>
          </a:prstGeom>
          <a:noFill/>
          <a:ln/>
        </p:spPr>
        <p:txBody>
          <a:bodyPr wrap="square" lIns="0" tIns="0" rIns="0" bIns="0" rtlCol="0" anchor="t"/>
          <a:lstStyle/>
          <a:p>
            <a:pPr indent="0" marL="0">
              <a:buNone/>
            </a:pPr>
            <a:r>
              <a:rPr lang="en-US" sz="1400" dirty="0">
                <a:solidFill>
                  <a:schemeClr val="bg1"/>
                </a:solidFill>
              </a:rPr>
              <a:t>Compare tokens, cost and answer quality using your model's real input and output prices.</a:t>
            </a:r>
            <a:endParaRPr lang="en-US" sz="1400" dirty="0"/>
          </a:p>
        </p:txBody>
      </p:sp>
      <p:sp>
        <p:nvSpPr>
          <p:cNvPr id="13" name="Next step 3 card"/>
          <p:cNvSpPr/>
          <p:nvPr/>
        </p:nvSpPr>
        <p:spPr>
          <a:xfrm>
            <a:off x="6126480" y="1371600"/>
            <a:ext cx="2560320" cy="2743200"/>
          </a:xfrm>
          <a:prstGeom prst="roundRect">
            <a:avLst>
              <a:gd name="adj" fmla="val 2857"/>
            </a:avLst>
          </a:prstGeom>
          <a:solidFill>
            <a:schemeClr val="accent3"/>
          </a:solidFill>
          <a:ln w="12700">
            <a:solidFill>
              <a:schemeClr val="accent3"/>
            </a:solidFill>
            <a:prstDash val="solid"/>
          </a:ln>
        </p:spPr>
      </p:sp>
      <p:sp>
        <p:nvSpPr>
          <p:cNvPr id="14" name="Next step 3 badge"/>
          <p:cNvSpPr/>
          <p:nvPr/>
        </p:nvSpPr>
        <p:spPr>
          <a:xfrm>
            <a:off x="6309360" y="1554480"/>
            <a:ext cx="502920" cy="502920"/>
          </a:xfrm>
          <a:prstGeom prst="ellipse">
            <a:avLst/>
          </a:prstGeom>
          <a:solidFill>
            <a:schemeClr val="bg1"/>
          </a:solidFill>
          <a:ln w="12700">
            <a:solidFill>
              <a:schemeClr val="bg1"/>
            </a:solidFill>
            <a:prstDash val="solid"/>
          </a:ln>
        </p:spPr>
      </p:sp>
      <p:sp>
        <p:nvSpPr>
          <p:cNvPr id="15" name="Text 13"/>
          <p:cNvSpPr txBox="1"/>
          <p:nvPr/>
        </p:nvSpPr>
        <p:spPr>
          <a:xfrm>
            <a:off x="6309360" y="1554480"/>
            <a:ext cx="502920" cy="502920"/>
          </a:xfrm>
          <a:prstGeom prst="rect">
            <a:avLst/>
          </a:prstGeom>
          <a:noFill/>
          <a:ln/>
        </p:spPr>
        <p:txBody>
          <a:bodyPr wrap="square" lIns="0" tIns="0" rIns="0" bIns="0" rtlCol="0" anchor="ctr"/>
          <a:lstStyle/>
          <a:p>
            <a:pPr algn="ctr" indent="0" marL="0">
              <a:buNone/>
            </a:pPr>
            <a:r>
              <a:rPr lang="en-US" sz="1800" b="1" dirty="0">
                <a:solidFill>
                  <a:schemeClr val="tx2"/>
                </a:solidFill>
              </a:rPr>
              <a:t>3</a:t>
            </a:r>
            <a:endParaRPr lang="en-US" sz="1800" dirty="0"/>
          </a:p>
        </p:txBody>
      </p:sp>
      <p:sp>
        <p:nvSpPr>
          <p:cNvPr id="16" name="Text 14"/>
          <p:cNvSpPr txBox="1"/>
          <p:nvPr/>
        </p:nvSpPr>
        <p:spPr>
          <a:xfrm>
            <a:off x="6309360" y="2194560"/>
            <a:ext cx="2194560" cy="411480"/>
          </a:xfrm>
          <a:prstGeom prst="rect">
            <a:avLst/>
          </a:prstGeom>
          <a:noFill/>
          <a:ln/>
        </p:spPr>
        <p:txBody>
          <a:bodyPr wrap="square" lIns="0" tIns="0" rIns="0" bIns="0" rtlCol="0" anchor="ctr"/>
          <a:lstStyle/>
          <a:p>
            <a:pPr indent="0" marL="0">
              <a:buNone/>
            </a:pPr>
            <a:r>
              <a:rPr lang="en-US" sz="2000" b="1" dirty="0">
                <a:solidFill>
                  <a:schemeClr val="bg1"/>
                </a:solidFill>
              </a:rPr>
              <a:t>Roll out</a:t>
            </a:r>
            <a:endParaRPr lang="en-US" sz="2000" dirty="0"/>
          </a:p>
        </p:txBody>
      </p:sp>
      <p:sp>
        <p:nvSpPr>
          <p:cNvPr id="17" name="Text 15"/>
          <p:cNvSpPr txBox="1"/>
          <p:nvPr/>
        </p:nvSpPr>
        <p:spPr>
          <a:xfrm>
            <a:off x="6309360" y="2651760"/>
            <a:ext cx="2194560" cy="1280160"/>
          </a:xfrm>
          <a:prstGeom prst="rect">
            <a:avLst/>
          </a:prstGeom>
          <a:noFill/>
          <a:ln/>
        </p:spPr>
        <p:txBody>
          <a:bodyPr wrap="square" lIns="0" tIns="0" rIns="0" bIns="0" rtlCol="0" anchor="t"/>
          <a:lstStyle/>
          <a:p>
            <a:pPr indent="0" marL="0">
              <a:buNone/>
            </a:pPr>
            <a:r>
              <a:rPr lang="en-US" sz="1400" dirty="0">
                <a:solidFill>
                  <a:schemeClr val="bg1"/>
                </a:solidFill>
              </a:rPr>
              <a:t>Expand org-wide behind the gateway, with a savings dashboard per team.</a:t>
            </a:r>
            <a:endParaRPr lang="en-US" sz="1400" dirty="0"/>
          </a:p>
        </p:txBody>
      </p:sp>
    </p:spTree>
  </p:cSld>
  <p:clrMapOvr>
    <a:masterClrMapping/>
  </p:clrMapOvr>
</p:sld>
</file>

<file path=ppt/theme/theme1.xml><?xml version="1.0" encoding="utf-8"?>
<a:theme xmlns:a="http://schemas.openxmlformats.org/drawingml/2006/main" name="TokenGate">
  <a:themeElements>
    <a:clrScheme name="TokenGate">
      <a:dk1>
        <a:srgbClr val="14232B"/>
      </a:dk1>
      <a:lt1>
        <a:srgbClr val="FFFFFF"/>
      </a:lt1>
      <a:dk2>
        <a:srgbClr val="0B3C49"/>
      </a:dk2>
      <a:lt2>
        <a:srgbClr val="EAF2F3"/>
      </a:lt2>
      <a:accent1>
        <a:srgbClr val="1E9A5A"/>
      </a:accent1>
      <a:accent2>
        <a:srgbClr val="D9532B"/>
      </a:accent2>
      <a:accent3>
        <a:srgbClr val="1C7C8C"/>
      </a:accent3>
      <a:accent4>
        <a:srgbClr val="E2A72E"/>
      </a:accent4>
      <a:accent5>
        <a:srgbClr val="5F7380"/>
      </a:accent5>
      <a:accent6>
        <a:srgbClr val="8FD3E8"/>
      </a:accent6>
      <a:hlink>
        <a:srgbClr val="1C7C8C"/>
      </a:hlink>
      <a:folHlink>
        <a:srgbClr val="5F7380"/>
      </a:folHlink>
    </a:clrScheme>
    <a:fontScheme name="TokenGat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Token Gate - An Org-Wide LLM Compression Gateway</dc:title>
  <dc:subject>PptxGenJS Presentation</dc:subject>
  <dc:creator>TokenGate</dc:creator>
  <cp:lastModifiedBy>TokenGate</cp:lastModifiedBy>
  <cp:revision>1</cp:revision>
  <dcterms:created xsi:type="dcterms:W3CDTF">2026-10-22T05:16:35Z</dcterms:created>
  <dcterms:modified xsi:type="dcterms:W3CDTF">2026-10-22T05:16:35Z</dcterms:modified>
</cp:coreProperties>
</file>